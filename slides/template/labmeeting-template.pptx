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1226" r:id="rId2"/>
    <p:sldId id="1256" r:id="rId3"/>
    <p:sldId id="1255" r:id="rId4"/>
    <p:sldId id="1570" r:id="rId5"/>
    <p:sldId id="1567" r:id="rId6"/>
    <p:sldId id="1568" r:id="rId7"/>
    <p:sldId id="1571" r:id="rId8"/>
    <p:sldId id="1569" r:id="rId9"/>
    <p:sldId id="1551" r:id="rId10"/>
    <p:sldId id="1555" r:id="rId11"/>
    <p:sldId id="1260" r:id="rId12"/>
    <p:sldId id="1535" r:id="rId13"/>
    <p:sldId id="1537" r:id="rId14"/>
    <p:sldId id="1536" r:id="rId15"/>
    <p:sldId id="1538" r:id="rId16"/>
    <p:sldId id="1561" r:id="rId17"/>
    <p:sldId id="1556" r:id="rId18"/>
    <p:sldId id="1287" r:id="rId19"/>
    <p:sldId id="1521" r:id="rId20"/>
    <p:sldId id="1549" r:id="rId21"/>
    <p:sldId id="1543" r:id="rId22"/>
    <p:sldId id="1565" r:id="rId23"/>
    <p:sldId id="1553" r:id="rId24"/>
    <p:sldId id="1552" r:id="rId25"/>
    <p:sldId id="1572" r:id="rId26"/>
    <p:sldId id="1573" r:id="rId27"/>
    <p:sldId id="1574" r:id="rId28"/>
    <p:sldId id="1575" r:id="rId29"/>
    <p:sldId id="1576" r:id="rId30"/>
    <p:sldId id="1577" r:id="rId31"/>
    <p:sldId id="1578" r:id="rId32"/>
    <p:sldId id="1550" r:id="rId3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9D9ED63-6EAA-414D-98EA-4D4E239F6C05}">
          <p14:sldIdLst>
            <p14:sldId id="1226"/>
            <p14:sldId id="1256"/>
            <p14:sldId id="1255"/>
            <p14:sldId id="1570"/>
            <p14:sldId id="1567"/>
            <p14:sldId id="1568"/>
            <p14:sldId id="1571"/>
            <p14:sldId id="1569"/>
            <p14:sldId id="1551"/>
            <p14:sldId id="1555"/>
            <p14:sldId id="1260"/>
          </p14:sldIdLst>
        </p14:section>
        <p14:section name="proposed method" id="{EEB1E2AD-AD89-4855-9E36-F6C7672C87A1}">
          <p14:sldIdLst>
            <p14:sldId id="1535"/>
            <p14:sldId id="1537"/>
            <p14:sldId id="1536"/>
            <p14:sldId id="1538"/>
            <p14:sldId id="1561"/>
            <p14:sldId id="1556"/>
            <p14:sldId id="1287"/>
            <p14:sldId id="1521"/>
            <p14:sldId id="1549"/>
            <p14:sldId id="1543"/>
            <p14:sldId id="1565"/>
            <p14:sldId id="1553"/>
          </p14:sldIdLst>
        </p14:section>
        <p14:section name="Apendix" id="{B6821991-4DD5-44A0-8A08-3765681C1CFF}">
          <p14:sldIdLst>
            <p14:sldId id="1552"/>
            <p14:sldId id="1572"/>
            <p14:sldId id="1573"/>
            <p14:sldId id="1574"/>
            <p14:sldId id="1575"/>
            <p14:sldId id="1576"/>
            <p14:sldId id="1577"/>
            <p14:sldId id="1578"/>
            <p14:sldId id="155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9ED"/>
    <a:srgbClr val="F9DF45"/>
    <a:srgbClr val="B9CDE5"/>
    <a:srgbClr val="AAC6E8"/>
    <a:srgbClr val="9CB8DA"/>
    <a:srgbClr val="DCE6F2"/>
    <a:srgbClr val="97B9E3"/>
    <a:srgbClr val="D7E4BD"/>
    <a:srgbClr val="FDF9F9"/>
    <a:srgbClr val="F9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3127" autoAdjust="0"/>
  </p:normalViewPr>
  <p:slideViewPr>
    <p:cSldViewPr snapToGrid="0">
      <p:cViewPr varScale="1">
        <p:scale>
          <a:sx n="146" d="100"/>
          <a:sy n="146" d="100"/>
        </p:scale>
        <p:origin x="108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8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8B1E6-E622-48DE-AC19-2C42301816AC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DB5DD-8A4B-414E-BAEC-045164A24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12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DD40-9A44-B2CC-A71E-DBE5756A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54BC4-012E-F707-B730-B224DA034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E59BF3-FED9-9F61-D139-8FEECB3F2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3643D0-B352-17B0-ACFE-55BDB36DF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0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602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835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9DE6-DAC0-335A-A2FE-B1162781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BBCBD-3498-6AE6-9E46-67FB4C721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680E2-FB23-2B82-5CFE-6FA1B4BE8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95C38-969E-6828-F12F-DE60F6418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00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C664-53AB-4735-67BE-703336C9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545CA8-CDFA-3B99-F13C-EEEA43C13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8C18F6-CC97-140E-3A2B-2C654731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EEB80-6164-8E8A-7418-61FFB2268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478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016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0C96-2592-6267-4B16-1255890B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270258-D733-D683-E6C7-D381C292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45F611-DE83-8F10-FCB5-63C5EDCCE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B27F7-8BD0-34EA-A9BF-C176C0D90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03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163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F28B-9D5C-1F4B-7A90-C3CDCECD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66010B-9C8D-EEC7-FA49-28193D226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B0B95-5475-696A-B443-D8B9C261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FADA9-C79D-0BA3-019C-F7A387927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442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207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DFD91-F3B3-6F2E-5B6F-5077F64B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AFE44A-71E1-E3B9-F102-08D6D8937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BD207-2F0E-0742-8E51-AB7B7A79A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A321C7-272E-C2C9-6DB3-084BB4928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954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614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6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Experiment 2 was conducted to identify the affects underlying the limited performance observed in the previous experiment</a:t>
            </a:r>
          </a:p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DB5DD-8A4B-414E-BAEC-045164A243E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35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5885" y="1041400"/>
            <a:ext cx="10363200" cy="2387600"/>
          </a:xfrm>
        </p:spPr>
        <p:txBody>
          <a:bodyPr anchor="b">
            <a:noAutofit/>
          </a:bodyPr>
          <a:lstStyle>
            <a:lvl1pPr algn="l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886" y="4393066"/>
            <a:ext cx="9144000" cy="1655762"/>
          </a:xfrm>
        </p:spPr>
        <p:txBody>
          <a:bodyPr>
            <a:noAutofit/>
          </a:bodyPr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F0D3C7-9F8F-80AF-979F-F3C3049BC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6745" y="6201329"/>
            <a:ext cx="2684541" cy="5874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B87848-CFDE-92EA-4E8C-4FCB43FDB7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47" y="6259658"/>
            <a:ext cx="1585708" cy="4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34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171" y="365127"/>
            <a:ext cx="11255829" cy="618285"/>
          </a:xfrm>
        </p:spPr>
        <p:txBody>
          <a:bodyPr>
            <a:no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171" y="1161143"/>
            <a:ext cx="11255829" cy="5248283"/>
          </a:xfrm>
        </p:spPr>
        <p:txBody>
          <a:bodyPr>
            <a:no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400"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ü"/>
              <a:defRPr sz="12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8072" y="6551903"/>
            <a:ext cx="2743200" cy="296274"/>
          </a:xfrm>
        </p:spPr>
        <p:txBody>
          <a:bodyPr/>
          <a:lstStyle/>
          <a:p>
            <a:fld id="{6258381D-6B6D-4253-A1CC-156B8F0F91B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183A1-A02B-4E5E-9B7E-C923D11522CA}"/>
              </a:ext>
            </a:extLst>
          </p:cNvPr>
          <p:cNvSpPr/>
          <p:nvPr userDrawn="1"/>
        </p:nvSpPr>
        <p:spPr>
          <a:xfrm>
            <a:off x="12091272" y="-1"/>
            <a:ext cx="100728" cy="6542081"/>
          </a:xfrm>
          <a:prstGeom prst="rect">
            <a:avLst/>
          </a:prstGeom>
          <a:solidFill>
            <a:srgbClr val="05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18FE24-1C99-4563-B540-1412D9069B7E}"/>
              </a:ext>
            </a:extLst>
          </p:cNvPr>
          <p:cNvSpPr/>
          <p:nvPr userDrawn="1"/>
        </p:nvSpPr>
        <p:spPr>
          <a:xfrm>
            <a:off x="12091272" y="6542082"/>
            <a:ext cx="100728" cy="3159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87FB8F-7F5A-B937-00E5-55E0C9E62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908"/>
            <a:ext cx="1727200" cy="37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7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330-3276-4C1E-A38E-FEC3361EB4D3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8546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B512B-8404-497F-BF47-95DDEFFECED6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38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8E12-4EFB-4B49-8749-7115FD86FFDA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19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8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860E4-98B2-46AF-99B8-FCAF240BEAA5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11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5A83-9EE6-43B3-9FFD-E8050677FE7C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74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2770-6E05-4497-B8CE-6EBDD2D332E7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8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BDF4F-8273-476E-B8AE-8B09CA0DF25C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27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330-3276-4C1E-A38E-FEC3361EB4D3}" type="datetime1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8381D-6B6D-4253-A1CC-156B8F0F9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43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E512-FFD3-1420-A3D4-EDAB070E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70721-12E9-F86C-B757-BD098DFC5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118" y="1088431"/>
            <a:ext cx="13413104" cy="17907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000" b="1" dirty="0">
                <a:latin typeface="+mn-lt"/>
              </a:rPr>
              <a:t>Unified Speech and Audio Representation Learning</a:t>
            </a:r>
            <a:endParaRPr lang="ko-KR" altLang="en-US" sz="3000" b="1" dirty="0">
              <a:latin typeface="+mn-lt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7C66B8-7525-DCEE-5211-7DF9ECD9D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082" y="4153547"/>
            <a:ext cx="10239848" cy="1560434"/>
          </a:xfrm>
        </p:spPr>
        <p:txBody>
          <a:bodyPr anchor="ctr" anchorCtr="0">
            <a:noAutofit/>
          </a:bodyPr>
          <a:lstStyle/>
          <a:p>
            <a:pPr algn="r"/>
            <a:r>
              <a:rPr lang="en-US" altLang="ko-KR" dirty="0"/>
              <a:t>DSP&amp;AI Lab., Yonsei University</a:t>
            </a:r>
          </a:p>
          <a:p>
            <a:pPr algn="r"/>
            <a:r>
              <a:rPr lang="en-US" altLang="ko-KR" dirty="0" err="1"/>
              <a:t>Hyomin</a:t>
            </a:r>
            <a:r>
              <a:rPr lang="en-US" altLang="ko-KR" dirty="0"/>
              <a:t> Kim</a:t>
            </a:r>
          </a:p>
          <a:p>
            <a:pPr algn="r"/>
            <a:r>
              <a:rPr lang="en-US" altLang="ko-KR" dirty="0"/>
              <a:t>2026.08.07</a:t>
            </a:r>
          </a:p>
          <a:p>
            <a:pPr algn="r"/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7CFA56-BD41-AD64-758B-93EB852F3E15}"/>
              </a:ext>
            </a:extLst>
          </p:cNvPr>
          <p:cNvSpPr/>
          <p:nvPr/>
        </p:nvSpPr>
        <p:spPr>
          <a:xfrm rot="16200000">
            <a:off x="4990686" y="-1425992"/>
            <a:ext cx="83912" cy="8768822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4A81C5A-C2A2-74A0-74A8-7F5245DDDD12}"/>
              </a:ext>
            </a:extLst>
          </p:cNvPr>
          <p:cNvSpPr txBox="1">
            <a:spLocks/>
          </p:cNvSpPr>
          <p:nvPr/>
        </p:nvSpPr>
        <p:spPr>
          <a:xfrm>
            <a:off x="274834" y="1860337"/>
            <a:ext cx="13413104" cy="163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ko-KR" altLang="en-US" sz="20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4055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2636E-E89F-B5F3-2524-B2CF2171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67D76-2224-9E0B-E1F5-093D2824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3752993"/>
            <a:ext cx="11255829" cy="2872191"/>
          </a:xfrm>
        </p:spPr>
        <p:txBody>
          <a:bodyPr/>
          <a:lstStyle/>
          <a:p>
            <a:r>
              <a:rPr lang="en-US" altLang="ko-KR" dirty="0"/>
              <a:t>Unified Model of Speech and Audio Representations</a:t>
            </a:r>
          </a:p>
          <a:p>
            <a:pPr lvl="1"/>
            <a:r>
              <a:rPr lang="en-US" altLang="ko-KR" dirty="0"/>
              <a:t>Learn speech, sound, and music in a </a:t>
            </a:r>
            <a:r>
              <a:rPr lang="en-US" altLang="ko-KR" b="1" dirty="0"/>
              <a:t>unified representation space</a:t>
            </a:r>
          </a:p>
          <a:p>
            <a:pPr lvl="1"/>
            <a:r>
              <a:rPr lang="en-US" altLang="ko-KR" dirty="0"/>
              <a:t>Unify domain-specific representations for better generalization across tasks</a:t>
            </a:r>
          </a:p>
          <a:p>
            <a:endParaRPr lang="en-US" altLang="ko-KR" dirty="0"/>
          </a:p>
          <a:p>
            <a:r>
              <a:rPr lang="en-US" altLang="ko-KR" dirty="0"/>
              <a:t>Motivation</a:t>
            </a:r>
          </a:p>
          <a:p>
            <a:pPr lvl="1"/>
            <a:r>
              <a:rPr lang="en-US" altLang="ko-KR" dirty="0"/>
              <a:t>Real-world scenario contains </a:t>
            </a:r>
            <a:r>
              <a:rPr lang="en-US" altLang="ko-KR" b="1" dirty="0"/>
              <a:t>speech, sound, and music simultaneously</a:t>
            </a:r>
          </a:p>
          <a:p>
            <a:pPr lvl="1"/>
            <a:r>
              <a:rPr lang="en-US" altLang="ko-KR" dirty="0"/>
              <a:t>Existing SSL models are domain-specific, requiring multiple models to run </a:t>
            </a:r>
            <a:r>
              <a:rPr lang="en-US" altLang="ko-KR" b="1" dirty="0"/>
              <a:t>in parallel</a:t>
            </a:r>
            <a:r>
              <a:rPr lang="en-US" altLang="ko-KR" dirty="0"/>
              <a:t> for real applications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CA7CFA-105F-CCCD-B0CD-1716A07F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D26246-271C-04B5-49B7-1392D758E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603" y="983412"/>
            <a:ext cx="5900794" cy="2060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2E5AD3-07FA-ADB1-9B2C-EA0F0FC8186D}"/>
              </a:ext>
            </a:extLst>
          </p:cNvPr>
          <p:cNvSpPr txBox="1"/>
          <p:nvPr/>
        </p:nvSpPr>
        <p:spPr>
          <a:xfrm>
            <a:off x="3620002" y="3253001"/>
            <a:ext cx="4951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Illustration of a</a:t>
            </a:r>
            <a:r>
              <a:rPr lang="ko-KR" altLang="en-US" sz="1200" dirty="0"/>
              <a:t> </a:t>
            </a:r>
            <a:r>
              <a:rPr lang="en-US" altLang="ko-KR" sz="1200" dirty="0"/>
              <a:t>unified model for speech and audio representations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74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23A97-921C-3BE8-DE58-F737FCB6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0B8349-C75C-ECF4-CDAA-22C6AD78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</a:p>
          <a:p>
            <a:pPr lvl="1"/>
            <a:r>
              <a:rPr lang="en-US" altLang="ko-KR" dirty="0" err="1"/>
              <a:t>WavLM</a:t>
            </a:r>
            <a:endParaRPr lang="en-US" altLang="ko-KR" dirty="0"/>
          </a:p>
          <a:p>
            <a:pPr lvl="1"/>
            <a:r>
              <a:rPr lang="en-US" altLang="ko-KR" dirty="0"/>
              <a:t>ATST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Introduction</a:t>
            </a:r>
          </a:p>
          <a:p>
            <a:pPr lvl="1"/>
            <a:r>
              <a:rPr lang="en-US" altLang="ko-KR" dirty="0"/>
              <a:t>USAD</a:t>
            </a:r>
          </a:p>
          <a:p>
            <a:pPr lvl="1"/>
            <a:r>
              <a:rPr lang="en-US" altLang="ko-KR" dirty="0"/>
              <a:t>SPEAR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Proposed Method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Experiments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Conclusion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52AA1-3DDB-E0DD-3343-17F16DA6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76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0450-1EFA-A87F-D023-0AA6F534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E5950-8EC4-F679-586F-2B4CD458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BD1E3-59AB-150D-C1CA-901014E97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</a:p>
          <a:p>
            <a:pPr lvl="1"/>
            <a:r>
              <a:rPr lang="en-US" altLang="ko-KR" dirty="0" err="1"/>
              <a:t>WavLM</a:t>
            </a:r>
            <a:endParaRPr lang="en-US" altLang="ko-KR" dirty="0"/>
          </a:p>
          <a:p>
            <a:pPr lvl="1"/>
            <a:r>
              <a:rPr lang="en-US" altLang="ko-KR" dirty="0"/>
              <a:t>ATST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Introduction</a:t>
            </a:r>
          </a:p>
          <a:p>
            <a:pPr lvl="1"/>
            <a:r>
              <a:rPr lang="en-US" altLang="ko-KR" dirty="0"/>
              <a:t>USAD</a:t>
            </a:r>
          </a:p>
          <a:p>
            <a:pPr lvl="1"/>
            <a:r>
              <a:rPr lang="en-US" altLang="ko-KR" dirty="0"/>
              <a:t>SPEAR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Proposed Method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Experiments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Conclusion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70ECC-1AAA-3088-5F28-18C30AB9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71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51EF-6A44-0C3E-A9C6-7CC171BD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37E3C-75D6-B1C2-E03D-6C2AAEA4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1600F0-4B4B-E6F7-3328-D9F70240A943}"/>
              </a:ext>
            </a:extLst>
          </p:cNvPr>
          <p:cNvSpPr/>
          <p:nvPr/>
        </p:nvSpPr>
        <p:spPr>
          <a:xfrm rot="16200000">
            <a:off x="4990686" y="-1425992"/>
            <a:ext cx="83912" cy="8768822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0561A19-B2D1-464A-CDDF-34AC0396A6D2}"/>
              </a:ext>
            </a:extLst>
          </p:cNvPr>
          <p:cNvSpPr txBox="1">
            <a:spLocks/>
          </p:cNvSpPr>
          <p:nvPr/>
        </p:nvSpPr>
        <p:spPr>
          <a:xfrm>
            <a:off x="648231" y="1638300"/>
            <a:ext cx="13413104" cy="1790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000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09534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71BEC-48B0-3005-F6FA-D8FC8119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WavLM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96377D-1F25-FD02-FDFF-E5AD03C74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171" y="4616245"/>
                <a:ext cx="11255829" cy="1793181"/>
              </a:xfrm>
            </p:spPr>
            <p:txBody>
              <a:bodyPr/>
              <a:lstStyle/>
              <a:p>
                <a:r>
                  <a:rPr lang="en-US" altLang="ko-KR" dirty="0"/>
                  <a:t>Description</a:t>
                </a:r>
              </a:p>
              <a:p>
                <a:pPr lvl="1"/>
                <a:r>
                  <a:rPr lang="en-US" altLang="ko-KR" dirty="0"/>
                  <a:t>Learn robust </a:t>
                </a:r>
                <a:r>
                  <a:rPr lang="en-US" altLang="ko-KR" b="1" dirty="0"/>
                  <a:t>speech representations</a:t>
                </a:r>
                <a:r>
                  <a:rPr lang="en-US" altLang="ko-KR" dirty="0"/>
                  <a:t> for a wide range of speech processing tasks</a:t>
                </a:r>
              </a:p>
              <a:p>
                <a:pPr lvl="1"/>
                <a:r>
                  <a:rPr lang="en-US" altLang="ko-KR" dirty="0"/>
                  <a:t>Generate pseudo-labels using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dirty="0"/>
                  <a:t>-means clustering on clean speech</a:t>
                </a:r>
              </a:p>
              <a:p>
                <a:pPr lvl="1"/>
                <a:r>
                  <a:rPr lang="en-US" altLang="ko-KR" dirty="0"/>
                  <a:t>Mask </a:t>
                </a:r>
                <a:r>
                  <a:rPr lang="en-US" altLang="ko-KR" b="1" dirty="0"/>
                  <a:t>mixed speech inputs</a:t>
                </a:r>
                <a:r>
                  <a:rPr lang="en-US" altLang="ko-KR" dirty="0"/>
                  <a:t> and predict </a:t>
                </a:r>
                <a:r>
                  <a:rPr lang="en-US" altLang="ko-KR" b="1" dirty="0"/>
                  <a:t>pseudo-labels of the original speech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96377D-1F25-FD02-FDFF-E5AD03C74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1" y="4616245"/>
                <a:ext cx="11255829" cy="1793181"/>
              </a:xfrm>
              <a:blipFill>
                <a:blip r:embed="rId3"/>
                <a:stretch>
                  <a:fillRect l="-325" t="-3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290F3-2DE8-04E1-42E9-8B80CB9F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225956-4FFA-AEFF-C817-0121A5B0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514" y="782993"/>
            <a:ext cx="3928973" cy="3526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84F18-4826-438A-F3DA-81D1639E7380}"/>
              </a:ext>
            </a:extLst>
          </p:cNvPr>
          <p:cNvSpPr txBox="1"/>
          <p:nvPr/>
        </p:nvSpPr>
        <p:spPr>
          <a:xfrm>
            <a:off x="4056490" y="4339246"/>
            <a:ext cx="4079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</a:t>
            </a:r>
            <a:r>
              <a:rPr kumimoji="1" lang="en-US" altLang="ko-KR" sz="1200" dirty="0" err="1"/>
              <a:t>WavLM</a:t>
            </a:r>
            <a:r>
              <a:rPr kumimoji="1" lang="en-US" altLang="ko-KR" sz="1200" dirty="0"/>
              <a:t> &gt; 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ABCFB-219B-CA8B-1269-47DB00E66D43}"/>
              </a:ext>
            </a:extLst>
          </p:cNvPr>
          <p:cNvSpPr txBox="1"/>
          <p:nvPr/>
        </p:nvSpPr>
        <p:spPr>
          <a:xfrm>
            <a:off x="3237722" y="19800"/>
            <a:ext cx="885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Chen et al., "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Large-Scale Self-Supervised Pre-Training for Full Stack Speech Processing," IEEE Journal of Selected Topics in Signal Processing, 2022.</a:t>
            </a:r>
          </a:p>
        </p:txBody>
      </p:sp>
    </p:spTree>
    <p:extLst>
      <p:ext uri="{BB962C8B-B14F-4D97-AF65-F5344CB8AC3E}">
        <p14:creationId xmlns:p14="http://schemas.microsoft.com/office/powerpoint/2010/main" val="213260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82A8-5913-4A77-1EA0-9EEEB853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C75FF-E1E7-E25A-3729-764A042F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WavLM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C2ACB3C-8E1B-E7C2-6839-857857B6C4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171" y="4616245"/>
                <a:ext cx="11255829" cy="1793181"/>
              </a:xfrm>
            </p:spPr>
            <p:txBody>
              <a:bodyPr/>
              <a:lstStyle/>
              <a:p>
                <a:r>
                  <a:rPr lang="en-US" altLang="ko-KR" dirty="0"/>
                  <a:t>Description</a:t>
                </a:r>
              </a:p>
              <a:p>
                <a:pPr lvl="1"/>
                <a:r>
                  <a:rPr lang="en-US" altLang="ko-KR" dirty="0"/>
                  <a:t>Learn robust </a:t>
                </a:r>
                <a:r>
                  <a:rPr lang="en-US" altLang="ko-KR" b="1" dirty="0"/>
                  <a:t>speech representations</a:t>
                </a:r>
                <a:r>
                  <a:rPr lang="en-US" altLang="ko-KR" dirty="0"/>
                  <a:t> for a wide range of speech processing tasks</a:t>
                </a:r>
              </a:p>
              <a:p>
                <a:pPr lvl="1"/>
                <a:r>
                  <a:rPr lang="en-US" altLang="ko-KR" dirty="0"/>
                  <a:t>Generate pseudo-labels using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dirty="0"/>
                  <a:t>-means clustering on clean speech</a:t>
                </a:r>
              </a:p>
              <a:p>
                <a:pPr lvl="1"/>
                <a:r>
                  <a:rPr lang="en-US" altLang="ko-KR" dirty="0"/>
                  <a:t>Mask </a:t>
                </a:r>
                <a:r>
                  <a:rPr lang="en-US" altLang="ko-KR" b="1" dirty="0"/>
                  <a:t>mixed speech inputs</a:t>
                </a:r>
                <a:r>
                  <a:rPr lang="en-US" altLang="ko-KR" dirty="0"/>
                  <a:t> and predict </a:t>
                </a:r>
                <a:r>
                  <a:rPr lang="en-US" altLang="ko-KR" b="1" dirty="0"/>
                  <a:t>pseudo-labels of the original speech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96377D-1F25-FD02-FDFF-E5AD03C74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1" y="4616245"/>
                <a:ext cx="11255829" cy="1793181"/>
              </a:xfrm>
              <a:blipFill>
                <a:blip r:embed="rId3"/>
                <a:stretch>
                  <a:fillRect l="-325" t="-3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805ED8-AC66-963C-AAAC-230D1066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66F881-C019-C7F6-2029-873E4EE1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514" y="782993"/>
            <a:ext cx="3928973" cy="3526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D071F3-8A69-0F9D-11E4-D2B67D8B628C}"/>
              </a:ext>
            </a:extLst>
          </p:cNvPr>
          <p:cNvSpPr txBox="1"/>
          <p:nvPr/>
        </p:nvSpPr>
        <p:spPr>
          <a:xfrm>
            <a:off x="4056490" y="4339246"/>
            <a:ext cx="4079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</a:t>
            </a:r>
            <a:r>
              <a:rPr kumimoji="1" lang="en-US" altLang="ko-KR" sz="1200" dirty="0" err="1"/>
              <a:t>WavLM</a:t>
            </a:r>
            <a:r>
              <a:rPr kumimoji="1" lang="en-US" altLang="ko-KR" sz="1200" dirty="0"/>
              <a:t> &gt; 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C98BF-3FF5-EC24-BDFC-DFD4EBEB2F20}"/>
              </a:ext>
            </a:extLst>
          </p:cNvPr>
          <p:cNvSpPr txBox="1"/>
          <p:nvPr/>
        </p:nvSpPr>
        <p:spPr>
          <a:xfrm>
            <a:off x="3237722" y="19800"/>
            <a:ext cx="885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Chen et al., "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WavLM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Large-Scale Self-Supervised Pre-Training for Full Stack Speech Processing," IEEE Journal of Selected Topics in Signal Processing, 2022.</a:t>
            </a:r>
          </a:p>
        </p:txBody>
      </p:sp>
    </p:spTree>
    <p:extLst>
      <p:ext uri="{BB962C8B-B14F-4D97-AF65-F5344CB8AC3E}">
        <p14:creationId xmlns:p14="http://schemas.microsoft.com/office/powerpoint/2010/main" val="344490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82F0-07F2-40EB-C47C-37C986C0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704E60-8421-1A28-746F-19FFB261C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983413"/>
            <a:ext cx="6168572" cy="5426014"/>
          </a:xfrm>
        </p:spPr>
        <p:txBody>
          <a:bodyPr/>
          <a:lstStyle/>
          <a:p>
            <a:r>
              <a:rPr lang="en-US" altLang="ko-KR" dirty="0"/>
              <a:t>Description</a:t>
            </a:r>
          </a:p>
          <a:p>
            <a:pPr lvl="1"/>
            <a:r>
              <a:rPr lang="en-US" altLang="ko-KR" dirty="0"/>
              <a:t>Learn audio representations through teacher-student self-supervised learning</a:t>
            </a:r>
          </a:p>
          <a:p>
            <a:pPr lvl="1"/>
            <a:r>
              <a:rPr lang="en-US" altLang="ko-KR" dirty="0"/>
              <a:t>Predict teacher frame embeddings from masked audio inputs</a:t>
            </a:r>
          </a:p>
          <a:p>
            <a:pPr lvl="1"/>
            <a:r>
              <a:rPr lang="en-US" altLang="ko-KR" dirty="0"/>
              <a:t>Update the teacher network via exponential moving averaging (EMA)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6DCBC-7265-3B0B-C5B2-867E7C52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551DF8-21A6-AD6A-A822-D1DC0ACBD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401" y="420886"/>
            <a:ext cx="4486223" cy="5777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BB08E7-7632-00C1-B559-35B0A41D692B}"/>
              </a:ext>
            </a:extLst>
          </p:cNvPr>
          <p:cNvSpPr txBox="1"/>
          <p:nvPr/>
        </p:nvSpPr>
        <p:spPr>
          <a:xfrm>
            <a:off x="923731" y="19800"/>
            <a:ext cx="11167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Li et al., "Self-Supervised Audio Teacher-Student Transformer for Both Clip-Level and Frame-Level Tasks," IEEE/ACM Transactions on Audio, Speech, and Language Processing, vol. 32, pp. 1336–1351, 2024.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5F8D4-5F93-0B8A-5F92-8404D1680FCA}"/>
              </a:ext>
            </a:extLst>
          </p:cNvPr>
          <p:cNvSpPr txBox="1"/>
          <p:nvPr/>
        </p:nvSpPr>
        <p:spPr>
          <a:xfrm>
            <a:off x="7112496" y="6059651"/>
            <a:ext cx="4079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ATST &gt;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6467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07072-54E3-D63B-DA0D-C4A4C52C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25DFA-C60D-63A3-7844-55E4B81C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A6D29B-B785-BA61-8F1C-7210B054B34E}"/>
              </a:ext>
            </a:extLst>
          </p:cNvPr>
          <p:cNvSpPr/>
          <p:nvPr/>
        </p:nvSpPr>
        <p:spPr>
          <a:xfrm rot="16200000">
            <a:off x="4990686" y="-1425992"/>
            <a:ext cx="83912" cy="8768822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726F397-0B55-2208-BE43-6C5A07049AA7}"/>
              </a:ext>
            </a:extLst>
          </p:cNvPr>
          <p:cNvSpPr txBox="1">
            <a:spLocks/>
          </p:cNvSpPr>
          <p:nvPr/>
        </p:nvSpPr>
        <p:spPr>
          <a:xfrm>
            <a:off x="648231" y="1638300"/>
            <a:ext cx="13413104" cy="1790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0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6529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D719E-7174-155D-12D5-A7181DB8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84332C-D63A-64B8-9F18-73EC7BB7C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161143"/>
            <a:ext cx="6642554" cy="5248283"/>
          </a:xfrm>
        </p:spPr>
        <p:txBody>
          <a:bodyPr/>
          <a:lstStyle/>
          <a:p>
            <a:r>
              <a:rPr lang="en-US" altLang="ko-KR" dirty="0"/>
              <a:t>USAD</a:t>
            </a:r>
          </a:p>
          <a:p>
            <a:pPr lvl="1"/>
            <a:r>
              <a:rPr lang="en-US" altLang="ko-KR" dirty="0"/>
              <a:t>Distill continuous representations from speech and audio teachers into a unified student</a:t>
            </a:r>
          </a:p>
          <a:p>
            <a:pPr lvl="1"/>
            <a:r>
              <a:rPr lang="en-US" altLang="ko-KR" dirty="0"/>
              <a:t>Apply </a:t>
            </a:r>
            <a:r>
              <a:rPr lang="en-US" altLang="ko-KR" b="1" dirty="0"/>
              <a:t>sparse layer-to-layer distillation</a:t>
            </a:r>
            <a:r>
              <a:rPr lang="en-US" altLang="ko-KR" dirty="0"/>
              <a:t> with frame-wise L1 and cosine similarity losses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SPEAR</a:t>
            </a:r>
          </a:p>
          <a:p>
            <a:pPr lvl="1"/>
            <a:r>
              <a:rPr lang="en-US" altLang="ko-KR" dirty="0"/>
              <a:t>Convert speech and audio teacher representations into </a:t>
            </a:r>
            <a:r>
              <a:rPr lang="en-US" altLang="ko-KR" b="1" dirty="0"/>
              <a:t>discrete multi-codebook targets</a:t>
            </a:r>
            <a:r>
              <a:rPr lang="en-US" altLang="ko-KR" dirty="0"/>
              <a:t> via quantization</a:t>
            </a:r>
          </a:p>
          <a:p>
            <a:pPr lvl="1"/>
            <a:r>
              <a:rPr lang="en-US" altLang="ko-KR" dirty="0"/>
              <a:t>Train the student using masked and unmasked token prediction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3952CF-B399-4A55-36F1-B8249EFE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DEB220-2D4B-954A-46A2-0BDC848B5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410" y="1125889"/>
            <a:ext cx="4817324" cy="20474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8B05AF-4A36-6953-8003-2EEA9F28B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132" y="3679966"/>
            <a:ext cx="3757721" cy="2812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8B36A3-B8D0-6F2B-50E7-C5ACFA6C7ED3}"/>
              </a:ext>
            </a:extLst>
          </p:cNvPr>
          <p:cNvSpPr txBox="1"/>
          <p:nvPr/>
        </p:nvSpPr>
        <p:spPr>
          <a:xfrm>
            <a:off x="8588567" y="3234953"/>
            <a:ext cx="1859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Framework of USAD &gt;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79088-2CB7-4AA6-8F68-E8CECB18E003}"/>
              </a:ext>
            </a:extLst>
          </p:cNvPr>
          <p:cNvSpPr txBox="1"/>
          <p:nvPr/>
        </p:nvSpPr>
        <p:spPr>
          <a:xfrm>
            <a:off x="8588567" y="6492873"/>
            <a:ext cx="195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Framework of SPEAR &gt;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B0891-1DA8-FFB1-E15F-E5D916CE6CE9}"/>
              </a:ext>
            </a:extLst>
          </p:cNvPr>
          <p:cNvSpPr txBox="1"/>
          <p:nvPr/>
        </p:nvSpPr>
        <p:spPr>
          <a:xfrm>
            <a:off x="6397608" y="19800"/>
            <a:ext cx="5693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H.-J. Chang, et al., “USAD: Universal Speech and Audio  Representation via Distillation,” ASRU 2025.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795342-7ABB-4A63-0BDD-612AC202F8FD}"/>
              </a:ext>
            </a:extLst>
          </p:cNvPr>
          <p:cNvSpPr txBox="1"/>
          <p:nvPr/>
        </p:nvSpPr>
        <p:spPr>
          <a:xfrm>
            <a:off x="4367640" y="176731"/>
            <a:ext cx="772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Yang et al., "SPEAR: A Unified SSL Framework for Learning Speech and Audio Representations,” ICML 2026.</a:t>
            </a:r>
          </a:p>
        </p:txBody>
      </p:sp>
    </p:spTree>
    <p:extLst>
      <p:ext uri="{BB962C8B-B14F-4D97-AF65-F5344CB8AC3E}">
        <p14:creationId xmlns:p14="http://schemas.microsoft.com/office/powerpoint/2010/main" val="165614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3D5A1-4889-7D66-EAA2-B76833F1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76E02-D9B7-A0CF-E8E7-60291CD65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Previous Approach</a:t>
            </a:r>
          </a:p>
          <a:p>
            <a:pPr lvl="1"/>
            <a:r>
              <a:rPr lang="en-US" altLang="ko-KR" dirty="0"/>
              <a:t>Distill knowledge from Speech SSL and Audio SSL teachers into a unified student encoder</a:t>
            </a:r>
          </a:p>
          <a:p>
            <a:pPr lvl="1"/>
            <a:r>
              <a:rPr lang="en-US" altLang="ko-KR" dirty="0"/>
              <a:t>Apply </a:t>
            </a:r>
            <a:r>
              <a:rPr lang="en-US" altLang="ko-KR" b="1" dirty="0"/>
              <a:t>a single encoder to diverse downstream tasks</a:t>
            </a:r>
            <a:r>
              <a:rPr lang="en-US" altLang="ko-KR" dirty="0"/>
              <a:t>, including ASR, speaker verification, and audio event classification</a:t>
            </a:r>
          </a:p>
          <a:p>
            <a:endParaRPr lang="en-US" altLang="ko-KR" dirty="0"/>
          </a:p>
          <a:p>
            <a:r>
              <a:rPr lang="en-US" altLang="ko-KR" dirty="0"/>
              <a:t>Limitations of Existing Unified Models</a:t>
            </a:r>
          </a:p>
          <a:p>
            <a:pPr lvl="1"/>
            <a:r>
              <a:rPr lang="en-US" altLang="ko-KR" b="1" dirty="0"/>
              <a:t>Lack adaptive specialization</a:t>
            </a:r>
            <a:r>
              <a:rPr lang="en-US" altLang="ko-KR" dirty="0"/>
              <a:t> to capture the distinct characteristics of speech and audio inputs</a:t>
            </a:r>
          </a:p>
          <a:p>
            <a:pPr lvl="1"/>
            <a:r>
              <a:rPr lang="en-US" altLang="ko-KR" dirty="0"/>
              <a:t>Thus, jointly learning speech and audio information within shared parameters may cause interference between their distinct characteristics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8FC68-EC20-DF0B-C313-D3977E5D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232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FB711-21C9-A0EE-2497-5E26682E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C0E9F-8FE1-D9C1-634C-86031A528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4988323"/>
            <a:ext cx="11255829" cy="1421103"/>
          </a:xfrm>
        </p:spPr>
        <p:txBody>
          <a:bodyPr/>
          <a:lstStyle/>
          <a:p>
            <a:r>
              <a:rPr lang="en-US" altLang="ko-KR" dirty="0"/>
              <a:t>Proposed Idea</a:t>
            </a:r>
          </a:p>
          <a:p>
            <a:pPr lvl="1"/>
            <a:r>
              <a:rPr lang="en-US" altLang="ko-KR" dirty="0"/>
              <a:t>Extend </a:t>
            </a:r>
            <a:r>
              <a:rPr lang="en-US" altLang="ko-KR" b="1" dirty="0"/>
              <a:t>a pretrained audio SSL encoder</a:t>
            </a:r>
            <a:r>
              <a:rPr lang="en-US" altLang="ko-KR" dirty="0"/>
              <a:t> toward unified speech-audio representation learning</a:t>
            </a:r>
          </a:p>
          <a:p>
            <a:pPr lvl="1"/>
            <a:r>
              <a:rPr lang="en-US" altLang="ko-KR" dirty="0"/>
              <a:t>Enable adaptive specialization for diverse speech and audio inputs through </a:t>
            </a:r>
            <a:r>
              <a:rPr lang="en-US" altLang="ko-KR" b="1" dirty="0" err="1"/>
              <a:t>MoE-LoRA</a:t>
            </a:r>
            <a:r>
              <a:rPr lang="en-US" altLang="ko-KR" b="1" dirty="0"/>
              <a:t> routing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7F1AF0-CE49-5B06-9B3D-B3F9B1A9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A48C0E56-6AFE-CF61-64D2-383B69DDF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14" y="983412"/>
            <a:ext cx="7642972" cy="395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3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8BE4-EC82-14BC-7317-3532AFD4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E1E52-4F0A-DDE8-8983-2FACBF7A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AB19C-3C3C-AB72-D745-311094ABE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4988323"/>
            <a:ext cx="11255829" cy="1421103"/>
          </a:xfrm>
        </p:spPr>
        <p:txBody>
          <a:bodyPr/>
          <a:lstStyle/>
          <a:p>
            <a:r>
              <a:rPr lang="en-US" altLang="ko-KR" dirty="0"/>
              <a:t>Construction of Student Encoder</a:t>
            </a:r>
          </a:p>
          <a:p>
            <a:pPr lvl="1"/>
            <a:r>
              <a:rPr lang="en-US" altLang="ko-KR" dirty="0"/>
              <a:t>Insert </a:t>
            </a:r>
            <a:r>
              <a:rPr lang="en-US" altLang="ko-KR" b="1" dirty="0" err="1"/>
              <a:t>MoE-LoRA</a:t>
            </a:r>
            <a:r>
              <a:rPr lang="en-US" altLang="ko-KR" b="1" dirty="0"/>
              <a:t> adapters</a:t>
            </a:r>
            <a:r>
              <a:rPr lang="en-US" altLang="ko-KR" dirty="0"/>
              <a:t> into a pretrained ATST while keeping the backbone frozen</a:t>
            </a:r>
          </a:p>
          <a:p>
            <a:pPr lvl="1"/>
            <a:r>
              <a:rPr lang="en-US" altLang="ko-KR" dirty="0"/>
              <a:t>Configure </a:t>
            </a:r>
            <a:r>
              <a:rPr lang="en-US" altLang="ko-KR" b="1" dirty="0"/>
              <a:t>four </a:t>
            </a:r>
            <a:r>
              <a:rPr lang="en-US" altLang="ko-KR" b="1" dirty="0" err="1"/>
              <a:t>LoRA</a:t>
            </a:r>
            <a:r>
              <a:rPr lang="en-US" altLang="ko-KR" b="1" dirty="0"/>
              <a:t> experts and one identity expert</a:t>
            </a:r>
            <a:r>
              <a:rPr lang="en-US" altLang="ko-KR" dirty="0"/>
              <a:t> to preserve the original ATST representation when adaptation is unnecessary</a:t>
            </a:r>
          </a:p>
          <a:p>
            <a:pPr lvl="1"/>
            <a:r>
              <a:rPr lang="en-US" altLang="ko-KR" dirty="0"/>
              <a:t>Select a single expert for each input using </a:t>
            </a:r>
            <a:r>
              <a:rPr lang="en-US" altLang="ko-KR" b="1" dirty="0"/>
              <a:t>top-1 routing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29D77-609B-35EE-CB7C-03E6F1C9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5A5B55-48C6-540B-1741-7A57A77A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14" y="983412"/>
            <a:ext cx="7642972" cy="395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13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8637-DC61-37C1-CE61-74F4084A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371F4-C078-64C6-0B6A-302B2DCC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D500C-8C18-6341-DC41-266531CB0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4988323"/>
            <a:ext cx="11255829" cy="1421103"/>
          </a:xfrm>
        </p:spPr>
        <p:txBody>
          <a:bodyPr/>
          <a:lstStyle/>
          <a:p>
            <a:r>
              <a:rPr lang="en-US" altLang="ko-KR" dirty="0"/>
              <a:t>Training Strategy</a:t>
            </a:r>
          </a:p>
          <a:p>
            <a:pPr lvl="1"/>
            <a:r>
              <a:rPr lang="en-US" altLang="ko-KR" dirty="0"/>
              <a:t>Keep both </a:t>
            </a:r>
            <a:r>
              <a:rPr lang="en-US" altLang="ko-KR" b="1" dirty="0"/>
              <a:t>ATST and </a:t>
            </a:r>
            <a:r>
              <a:rPr lang="en-US" altLang="ko-KR" b="1" dirty="0" err="1"/>
              <a:t>WavLM</a:t>
            </a:r>
            <a:r>
              <a:rPr lang="en-US" altLang="ko-KR" b="1" dirty="0"/>
              <a:t> teachers frozen</a:t>
            </a:r>
            <a:r>
              <a:rPr lang="en-US" altLang="ko-KR" dirty="0"/>
              <a:t> during training</a:t>
            </a:r>
          </a:p>
          <a:p>
            <a:pPr lvl="1"/>
            <a:r>
              <a:rPr lang="en-US" altLang="ko-KR" dirty="0"/>
              <a:t>Utilize the</a:t>
            </a:r>
            <a:r>
              <a:rPr lang="en-US" altLang="ko-KR" b="1" dirty="0"/>
              <a:t> final-layer representations</a:t>
            </a:r>
            <a:r>
              <a:rPr lang="en-US" altLang="ko-KR" dirty="0"/>
              <a:t> of each teacher as modality-specific distillation targets</a:t>
            </a:r>
          </a:p>
          <a:p>
            <a:pPr lvl="1"/>
            <a:r>
              <a:rPr lang="en-US" altLang="ko-KR" dirty="0"/>
              <a:t>Employ separate </a:t>
            </a:r>
            <a:r>
              <a:rPr lang="en-US" altLang="ko-KR" b="1" dirty="0"/>
              <a:t>Transformer prediction heads</a:t>
            </a:r>
            <a:r>
              <a:rPr lang="en-US" altLang="ko-KR" dirty="0"/>
              <a:t> for audio and speech</a:t>
            </a:r>
          </a:p>
          <a:p>
            <a:pPr lvl="1"/>
            <a:r>
              <a:rPr lang="en-US" altLang="ko-KR" b="1" dirty="0"/>
              <a:t>Train the student encoder with MSE losses</a:t>
            </a:r>
            <a:r>
              <a:rPr lang="en-US" altLang="ko-KR" dirty="0"/>
              <a:t> for both modalities</a:t>
            </a:r>
            <a:endParaRPr lang="ko-KR" altLang="en-US" strike="sngStrike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A5EAE-DB5A-8702-9806-2443EA37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6F4995-2E6F-1AF5-CE4E-D9121EAC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14" y="983412"/>
            <a:ext cx="7642972" cy="395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33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F872-0AFF-FD78-5700-28D2ADF5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5A728-11FC-C91D-8DAE-9DBF7401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3B5B90-C8B0-BDA3-2869-1A3DD3AE69B2}"/>
              </a:ext>
            </a:extLst>
          </p:cNvPr>
          <p:cNvSpPr/>
          <p:nvPr/>
        </p:nvSpPr>
        <p:spPr>
          <a:xfrm rot="16200000">
            <a:off x="4990686" y="-1425992"/>
            <a:ext cx="83912" cy="8768822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52DBEA0-FB88-8237-9C1E-BC62001F8C8F}"/>
              </a:ext>
            </a:extLst>
          </p:cNvPr>
          <p:cNvSpPr txBox="1">
            <a:spLocks/>
          </p:cNvSpPr>
          <p:nvPr/>
        </p:nvSpPr>
        <p:spPr>
          <a:xfrm>
            <a:off x="648231" y="1638300"/>
            <a:ext cx="13413104" cy="1790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000" dirty="0"/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289290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9BCE2-A70B-0F33-04FC-0DBD16E7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17523-6607-6E19-299F-74267D56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003D7990-C578-D0D4-20E9-A4C87045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236" y="3520388"/>
            <a:ext cx="4725423" cy="2646236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C0584C94-34CD-F26A-C5EF-C99FFC891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623" y="488873"/>
            <a:ext cx="5113026" cy="2646236"/>
          </a:xfrm>
          <a:prstGeom prst="rect">
            <a:avLst/>
          </a:prstGeom>
        </p:spPr>
      </p:pic>
      <p:sp>
        <p:nvSpPr>
          <p:cNvPr id="77" name="내용 개체 틀 2">
            <a:extLst>
              <a:ext uri="{FF2B5EF4-FFF2-40B4-BE49-F238E27FC236}">
                <a16:creationId xmlns:a16="http://schemas.microsoft.com/office/drawing/2014/main" id="{3743E66F-ED61-97CE-AC5C-A939BD28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161143"/>
            <a:ext cx="6361892" cy="5248283"/>
          </a:xfrm>
        </p:spPr>
        <p:txBody>
          <a:bodyPr/>
          <a:lstStyle/>
          <a:p>
            <a:r>
              <a:rPr lang="en-US" altLang="ko-KR" dirty="0"/>
              <a:t>Experiment #1: Proposed Model Evaluation</a:t>
            </a:r>
          </a:p>
          <a:p>
            <a:pPr lvl="1"/>
            <a:r>
              <a:rPr lang="en-US" altLang="ko-KR" dirty="0"/>
              <a:t>Evaluate whether the proposed model improves speech performance while preserving audio performance</a:t>
            </a:r>
          </a:p>
          <a:p>
            <a:pPr lvl="1"/>
            <a:r>
              <a:rPr lang="en-US" altLang="ko-KR" dirty="0"/>
              <a:t>Assess the model on speech and audio downstream tasks</a:t>
            </a:r>
          </a:p>
          <a:p>
            <a:endParaRPr lang="en-US" altLang="ko-KR" dirty="0"/>
          </a:p>
          <a:p>
            <a:r>
              <a:rPr lang="en-US" altLang="ko-KR" dirty="0"/>
              <a:t>Experiment #2: </a:t>
            </a:r>
            <a:r>
              <a:rPr lang="en-US" altLang="ko-KR" dirty="0" err="1"/>
              <a:t>MoE</a:t>
            </a:r>
            <a:r>
              <a:rPr lang="en-US" altLang="ko-KR" dirty="0"/>
              <a:t> Structure Analysis</a:t>
            </a:r>
          </a:p>
          <a:p>
            <a:pPr lvl="1"/>
            <a:r>
              <a:rPr lang="en-US" altLang="ko-KR" dirty="0"/>
              <a:t>Assess the effectiveness of the proposed </a:t>
            </a:r>
            <a:r>
              <a:rPr lang="en-US" altLang="ko-KR" dirty="0" err="1"/>
              <a:t>MoE</a:t>
            </a:r>
            <a:r>
              <a:rPr lang="en-US" altLang="ko-KR" dirty="0"/>
              <a:t> structure for unified speech-audio learning</a:t>
            </a:r>
          </a:p>
          <a:p>
            <a:pPr lvl="1"/>
            <a:r>
              <a:rPr lang="en-US" altLang="ko-KR" dirty="0"/>
              <a:t>Analyze expert routing and compare </a:t>
            </a:r>
            <a:r>
              <a:rPr lang="en-US" altLang="ko-KR" dirty="0" err="1"/>
              <a:t>MoE-LoRA</a:t>
            </a:r>
            <a:r>
              <a:rPr lang="en-US" altLang="ko-KR" dirty="0"/>
              <a:t> with a standard </a:t>
            </a:r>
            <a:r>
              <a:rPr lang="en-US" altLang="ko-KR" dirty="0" err="1"/>
              <a:t>LoRA</a:t>
            </a:r>
            <a:r>
              <a:rPr lang="en-US" altLang="ko-KR" dirty="0"/>
              <a:t> baseline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64ED4E-D2BF-07D5-0DAA-693A109E2B36}"/>
              </a:ext>
            </a:extLst>
          </p:cNvPr>
          <p:cNvSpPr txBox="1"/>
          <p:nvPr/>
        </p:nvSpPr>
        <p:spPr>
          <a:xfrm>
            <a:off x="8032848" y="3152001"/>
            <a:ext cx="2686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experiment #1 &gt; </a:t>
            </a:r>
            <a:endParaRPr lang="ko-KR" altLang="en-US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C467EA-1F8C-9050-CFB1-AFEAB1712D7A}"/>
              </a:ext>
            </a:extLst>
          </p:cNvPr>
          <p:cNvSpPr txBox="1"/>
          <p:nvPr/>
        </p:nvSpPr>
        <p:spPr>
          <a:xfrm>
            <a:off x="8032848" y="6215874"/>
            <a:ext cx="2686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experiment #2 &gt;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48221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87BCA-4224-3A7F-178A-D118D1C8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B5ACD8-4C9C-1126-0822-BEF5F4A72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5120640"/>
            <a:ext cx="11255829" cy="1288786"/>
          </a:xfrm>
        </p:spPr>
        <p:txBody>
          <a:bodyPr/>
          <a:lstStyle/>
          <a:p>
            <a:r>
              <a:rPr lang="en-US" altLang="ko-KR" dirty="0"/>
              <a:t>Experiment #3: Distillation Target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</a:p>
          <a:p>
            <a:pPr lvl="1"/>
            <a:r>
              <a:rPr lang="en-US" altLang="ko-KR" dirty="0"/>
              <a:t>Assess the effect of </a:t>
            </a:r>
            <a:r>
              <a:rPr lang="en-US" altLang="ko-KR" b="1" dirty="0"/>
              <a:t>different speech distillation targets</a:t>
            </a:r>
            <a:r>
              <a:rPr lang="en-US" altLang="ko-KR" dirty="0"/>
              <a:t> on speech representation learning</a:t>
            </a:r>
          </a:p>
          <a:p>
            <a:pPr lvl="1"/>
            <a:r>
              <a:rPr lang="en-US" altLang="ko-KR" dirty="0"/>
              <a:t>Compare </a:t>
            </a:r>
            <a:r>
              <a:rPr lang="en-US" altLang="ko-KR" b="1" dirty="0"/>
              <a:t>continuous representation distillation </a:t>
            </a:r>
            <a:r>
              <a:rPr lang="en-US" altLang="ko-KR" dirty="0"/>
              <a:t>with </a:t>
            </a:r>
            <a:r>
              <a:rPr lang="en-US" altLang="ko-KR" b="1" dirty="0"/>
              <a:t>discrete prediction</a:t>
            </a:r>
            <a:r>
              <a:rPr lang="en-US" altLang="ko-KR" dirty="0"/>
              <a:t> using targets from different </a:t>
            </a:r>
            <a:r>
              <a:rPr lang="en-US" altLang="ko-KR" dirty="0" err="1"/>
              <a:t>WavLM</a:t>
            </a:r>
            <a:r>
              <a:rPr lang="en-US" altLang="ko-KR" dirty="0"/>
              <a:t> layers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B0957F-AF13-DB0B-EC18-828E267E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09FB7346-FEC7-DCC2-D157-2E29026D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632" y="639172"/>
            <a:ext cx="7128736" cy="408954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CDA451A-B98D-DA86-418E-AA785F2EEC4F}"/>
              </a:ext>
            </a:extLst>
          </p:cNvPr>
          <p:cNvSpPr txBox="1"/>
          <p:nvPr/>
        </p:nvSpPr>
        <p:spPr>
          <a:xfrm>
            <a:off x="4848673" y="4710180"/>
            <a:ext cx="2494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200" dirty="0"/>
              <a:t>&lt; Framework of experiment #3 &gt;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2268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A710F-4847-C517-084E-4BC5A989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Experimental</a:t>
            </a:r>
            <a:r>
              <a:rPr lang="ko-KR" altLang="en-US" dirty="0"/>
              <a:t> </a:t>
            </a:r>
            <a:r>
              <a:rPr lang="en-US" altLang="ko-KR" dirty="0"/>
              <a:t>Setup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B3D03-3094-221E-9F21-3D967C2B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D04EFD0-CEE4-2E4D-35BF-C0EB09DC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161143"/>
            <a:ext cx="11255828" cy="5248283"/>
          </a:xfrm>
        </p:spPr>
        <p:txBody>
          <a:bodyPr/>
          <a:lstStyle/>
          <a:p>
            <a:r>
              <a:rPr lang="en-US" altLang="ko-KR" dirty="0"/>
              <a:t>Dataset Setup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Model Setup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3C985B0-DF77-7F69-9A8D-E03ABFA32E76}"/>
              </a:ext>
            </a:extLst>
          </p:cNvPr>
          <p:cNvGraphicFramePr>
            <a:graphicFrameLocks noGrp="1"/>
          </p:cNvGraphicFramePr>
          <p:nvPr/>
        </p:nvGraphicFramePr>
        <p:xfrm>
          <a:off x="685275" y="1658642"/>
          <a:ext cx="3787827" cy="937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92">
                  <a:extLst>
                    <a:ext uri="{9D8B030D-6E8A-4147-A177-3AD203B41FA5}">
                      <a16:colId xmlns:a16="http://schemas.microsoft.com/office/drawing/2014/main" val="3908958639"/>
                    </a:ext>
                  </a:extLst>
                </a:gridCol>
                <a:gridCol w="1663600">
                  <a:extLst>
                    <a:ext uri="{9D8B030D-6E8A-4147-A177-3AD203B41FA5}">
                      <a16:colId xmlns:a16="http://schemas.microsoft.com/office/drawing/2014/main" val="988720776"/>
                    </a:ext>
                  </a:extLst>
                </a:gridCol>
                <a:gridCol w="1044135">
                  <a:extLst>
                    <a:ext uri="{9D8B030D-6E8A-4147-A177-3AD203B41FA5}">
                      <a16:colId xmlns:a16="http://schemas.microsoft.com/office/drawing/2014/main" val="2658806677"/>
                    </a:ext>
                  </a:extLst>
                </a:gridCol>
              </a:tblGrid>
              <a:tr h="2705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964711"/>
                  </a:ext>
                </a:extLst>
              </a:tr>
              <a:tr h="316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LibriTTS</a:t>
                      </a:r>
                      <a:r>
                        <a:rPr lang="en-US" altLang="ko-KR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ko-KR" altLang="en-US" sz="1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hours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38008"/>
                  </a:ext>
                </a:extLst>
              </a:tr>
              <a:tr h="3165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Freesound</a:t>
                      </a:r>
                      <a:r>
                        <a:rPr lang="en-US" altLang="ko-KR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ko-KR" altLang="en-US" sz="1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hours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56442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000492D-1957-D619-384A-AB4B699B5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25099"/>
              </p:ext>
            </p:extLst>
          </p:nvPr>
        </p:nvGraphicFramePr>
        <p:xfrm>
          <a:off x="685275" y="3279548"/>
          <a:ext cx="2691908" cy="2056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8618">
                  <a:extLst>
                    <a:ext uri="{9D8B030D-6E8A-4147-A177-3AD203B41FA5}">
                      <a16:colId xmlns:a16="http://schemas.microsoft.com/office/drawing/2014/main" val="395318872"/>
                    </a:ext>
                  </a:extLst>
                </a:gridCol>
                <a:gridCol w="1583290">
                  <a:extLst>
                    <a:ext uri="{9D8B030D-6E8A-4147-A177-3AD203B41FA5}">
                      <a16:colId xmlns:a16="http://schemas.microsoft.com/office/drawing/2014/main" val="2936752321"/>
                    </a:ext>
                  </a:extLst>
                </a:gridCol>
              </a:tblGrid>
              <a:tr h="5102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Encoder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375261"/>
                  </a:ext>
                </a:extLst>
              </a:tr>
              <a:tr h="5102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890021"/>
                  </a:ext>
                </a:extLst>
              </a:tr>
              <a:tr h="5102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134340"/>
                  </a:ext>
                </a:extLst>
              </a:tr>
              <a:tr h="359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23041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C69F9E5-0CAB-76FF-3259-2DB4DEFEE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1827"/>
              </p:ext>
            </p:extLst>
          </p:nvPr>
        </p:nvGraphicFramePr>
        <p:xfrm>
          <a:off x="4369426" y="3279548"/>
          <a:ext cx="2691908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8618">
                  <a:extLst>
                    <a:ext uri="{9D8B030D-6E8A-4147-A177-3AD203B41FA5}">
                      <a16:colId xmlns:a16="http://schemas.microsoft.com/office/drawing/2014/main" val="395318872"/>
                    </a:ext>
                  </a:extLst>
                </a:gridCol>
                <a:gridCol w="1583290">
                  <a:extLst>
                    <a:ext uri="{9D8B030D-6E8A-4147-A177-3AD203B41FA5}">
                      <a16:colId xmlns:a16="http://schemas.microsoft.com/office/drawing/2014/main" val="2936752321"/>
                    </a:ext>
                  </a:extLst>
                </a:gridCol>
              </a:tblGrid>
              <a:tr h="432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890021"/>
                  </a:ext>
                </a:extLst>
              </a:tr>
              <a:tr h="432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</a:t>
                      </a:r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3e-4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1343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817F4CE-4298-00C9-89FB-DE3B73F2E54C}"/>
              </a:ext>
            </a:extLst>
          </p:cNvPr>
          <p:cNvSpPr txBox="1"/>
          <p:nvPr/>
        </p:nvSpPr>
        <p:spPr>
          <a:xfrm>
            <a:off x="7702152" y="9823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https://www.openslr.org/141/</a:t>
            </a:r>
          </a:p>
          <a:p>
            <a:pPr algn="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https://annotator.freesound.org/fsd/release/FSD50K/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2B65-CED8-54DF-3036-F38C63B7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49FE6-BF37-83AC-7701-A23DF5F0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Experimental</a:t>
            </a:r>
            <a:r>
              <a:rPr lang="ko-KR" altLang="en-US" dirty="0"/>
              <a:t> </a:t>
            </a:r>
            <a:r>
              <a:rPr lang="en-US" altLang="ko-KR" dirty="0"/>
              <a:t>Setup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B0BDF6-0D24-1C78-DA1F-7DDA2347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18A4814-97B0-F042-CFBB-D76A8D42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161143"/>
            <a:ext cx="11255829" cy="5248283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graphicFrame>
        <p:nvGraphicFramePr>
          <p:cNvPr id="6" name="Google Shape;219;p13">
            <a:extLst>
              <a:ext uri="{FF2B5EF4-FFF2-40B4-BE49-F238E27FC236}">
                <a16:creationId xmlns:a16="http://schemas.microsoft.com/office/drawing/2014/main" id="{DB74F291-8B82-EB10-4820-797A679AC8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214427"/>
              </p:ext>
            </p:extLst>
          </p:nvPr>
        </p:nvGraphicFramePr>
        <p:xfrm>
          <a:off x="214086" y="1853137"/>
          <a:ext cx="11763828" cy="9049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06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498">
                  <a:extLst>
                    <a:ext uri="{9D8B030D-6E8A-4147-A177-3AD203B41FA5}">
                      <a16:colId xmlns:a16="http://schemas.microsoft.com/office/drawing/2014/main" val="160408374"/>
                    </a:ext>
                  </a:extLst>
                </a:gridCol>
                <a:gridCol w="2821839">
                  <a:extLst>
                    <a:ext uri="{9D8B030D-6E8A-4147-A177-3AD203B41FA5}">
                      <a16:colId xmlns:a16="http://schemas.microsoft.com/office/drawing/2014/main" val="3864812471"/>
                    </a:ext>
                  </a:extLst>
                </a:gridCol>
                <a:gridCol w="2607791">
                  <a:extLst>
                    <a:ext uri="{9D8B030D-6E8A-4147-A177-3AD203B41FA5}">
                      <a16:colId xmlns:a16="http://schemas.microsoft.com/office/drawing/2014/main" val="1099115565"/>
                    </a:ext>
                  </a:extLst>
                </a:gridCol>
              </a:tblGrid>
              <a:tr h="3867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Downstream model 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function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Automatic Speech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Recognition (ASR)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LibriSpeech</a:t>
                      </a:r>
                      <a:r>
                        <a:rPr lang="en-US" sz="1400" b="0" u="none" strike="noStrike" cap="none" baseline="30000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[2]</a:t>
                      </a:r>
                      <a:endParaRPr sz="1400" b="0" u="none" strike="noStrike" cap="none" baseline="30000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2-layer BLSTM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CTC loss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Word error rate (WER)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oogle Shape;219;p13">
            <a:extLst>
              <a:ext uri="{FF2B5EF4-FFF2-40B4-BE49-F238E27FC236}">
                <a16:creationId xmlns:a16="http://schemas.microsoft.com/office/drawing/2014/main" id="{7B501308-7F3D-AC02-050A-7C5FDA65B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407632"/>
              </p:ext>
            </p:extLst>
          </p:nvPr>
        </p:nvGraphicFramePr>
        <p:xfrm>
          <a:off x="214086" y="3966530"/>
          <a:ext cx="11763828" cy="11182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4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183">
                  <a:extLst>
                    <a:ext uri="{9D8B030D-6E8A-4147-A177-3AD203B41FA5}">
                      <a16:colId xmlns:a16="http://schemas.microsoft.com/office/drawing/2014/main" val="160408374"/>
                    </a:ext>
                  </a:extLst>
                </a:gridCol>
                <a:gridCol w="3015260">
                  <a:extLst>
                    <a:ext uri="{9D8B030D-6E8A-4147-A177-3AD203B41FA5}">
                      <a16:colId xmlns:a16="http://schemas.microsoft.com/office/drawing/2014/main" val="3864812471"/>
                    </a:ext>
                  </a:extLst>
                </a:gridCol>
                <a:gridCol w="2607791">
                  <a:extLst>
                    <a:ext uri="{9D8B030D-6E8A-4147-A177-3AD203B41FA5}">
                      <a16:colId xmlns:a16="http://schemas.microsoft.com/office/drawing/2014/main" val="1099115565"/>
                    </a:ext>
                  </a:extLst>
                </a:gridCol>
              </a:tblGrid>
              <a:tr h="3867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Downstream model 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function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metrics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Environmental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Environmental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Sound Classification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(ESC)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ESC-50</a:t>
                      </a:r>
                      <a:r>
                        <a:rPr lang="en-US" sz="1400" b="0" u="none" strike="noStrike" cap="none" baseline="30000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[4]</a:t>
                      </a:r>
                      <a:endParaRPr sz="1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 linear layer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Cross-entropy loss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Accuracy (ACC)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DA622B-E196-48F5-0077-06D5DA57EC36}"/>
              </a:ext>
            </a:extLst>
          </p:cNvPr>
          <p:cNvSpPr txBox="1"/>
          <p:nvPr/>
        </p:nvSpPr>
        <p:spPr>
          <a:xfrm>
            <a:off x="4487227" y="1450185"/>
            <a:ext cx="3389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Settings of downstream task in SUPERB</a:t>
            </a:r>
            <a:r>
              <a:rPr lang="en-US" altLang="ko-KR" sz="1200" baseline="30000" dirty="0"/>
              <a:t>[1]</a:t>
            </a:r>
            <a:r>
              <a:rPr lang="en-US" altLang="ko-KR" sz="1200" dirty="0"/>
              <a:t> 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1A9E2-4814-1708-64EF-36B8791E3E90}"/>
              </a:ext>
            </a:extLst>
          </p:cNvPr>
          <p:cNvSpPr txBox="1"/>
          <p:nvPr/>
        </p:nvSpPr>
        <p:spPr>
          <a:xfrm>
            <a:off x="4589818" y="3600665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Settings of downstream task in HEAR</a:t>
            </a:r>
            <a:r>
              <a:rPr lang="en-US" altLang="ko-KR" sz="1200" baseline="30000" dirty="0"/>
              <a:t>[3]</a:t>
            </a:r>
            <a:r>
              <a:rPr lang="en-US" altLang="ko-KR" sz="1200" dirty="0"/>
              <a:t> 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6953F-8EE8-242F-8C38-56FC67E8594C}"/>
              </a:ext>
            </a:extLst>
          </p:cNvPr>
          <p:cNvSpPr txBox="1"/>
          <p:nvPr/>
        </p:nvSpPr>
        <p:spPr>
          <a:xfrm>
            <a:off x="3273843" y="-5144"/>
            <a:ext cx="88641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S.-w. Yang et al., "SUPERB: Speech Processing Universal 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Benchmark," in Proc. 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Interspeech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1194–1198, 2021.</a:t>
            </a:r>
          </a:p>
          <a:p>
            <a:pPr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J. Turian et al., "HEAR: Holistic Evaluation of Audio Representations," in Proc. 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Competitions and Demonstrations Track, vol. 176, pp. 125–145, 2022.</a:t>
            </a:r>
          </a:p>
          <a:p>
            <a:pPr algn="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https://www.openslr.org/12/</a:t>
            </a:r>
          </a:p>
          <a:p>
            <a:pPr algn="r"/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https://github.com/karolpiczak/ESC-50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defRPr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r">
              <a:defRPr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42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214A-6DB1-F36C-4E99-7E0D91B3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8A185-A673-3054-C478-4230E81B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D0FC3-14E9-A743-BEAE-97004A90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4436668"/>
            <a:ext cx="11255829" cy="1972758"/>
          </a:xfrm>
        </p:spPr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Show </a:t>
            </a:r>
            <a:r>
              <a:rPr lang="en-US" altLang="ko-KR" b="1" dirty="0"/>
              <a:t>lower performance</a:t>
            </a:r>
            <a:r>
              <a:rPr lang="en-US" altLang="ko-KR" dirty="0"/>
              <a:t> than ATST on both ASR and ESC-50 downstream tasks</a:t>
            </a:r>
          </a:p>
          <a:p>
            <a:pPr lvl="1"/>
            <a:r>
              <a:rPr lang="en-US" altLang="ko-KR" dirty="0"/>
              <a:t>Result in </a:t>
            </a:r>
            <a:r>
              <a:rPr lang="en-US" altLang="ko-KR" b="1" dirty="0"/>
              <a:t>no clear improvement</a:t>
            </a:r>
            <a:r>
              <a:rPr lang="en-US" altLang="ko-KR" dirty="0"/>
              <a:t> in speech performance despite </a:t>
            </a:r>
            <a:r>
              <a:rPr lang="en-US" altLang="ko-KR" b="1" dirty="0"/>
              <a:t>adding speech-teacher distillation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3ED38-BFE2-5808-C8EA-3B667DE5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20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425106-23FB-09D2-716F-ADA442B03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442008"/>
              </p:ext>
            </p:extLst>
          </p:nvPr>
        </p:nvGraphicFramePr>
        <p:xfrm>
          <a:off x="5364479" y="1516810"/>
          <a:ext cx="6419482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7073">
                  <a:extLst>
                    <a:ext uri="{9D8B030D-6E8A-4147-A177-3AD203B41FA5}">
                      <a16:colId xmlns:a16="http://schemas.microsoft.com/office/drawing/2014/main" val="2405631470"/>
                    </a:ext>
                  </a:extLst>
                </a:gridCol>
                <a:gridCol w="1290816">
                  <a:extLst>
                    <a:ext uri="{9D8B030D-6E8A-4147-A177-3AD203B41FA5}">
                      <a16:colId xmlns:a16="http://schemas.microsoft.com/office/drawing/2014/main" val="3908958639"/>
                    </a:ext>
                  </a:extLst>
                </a:gridCol>
                <a:gridCol w="1199133">
                  <a:extLst>
                    <a:ext uri="{9D8B030D-6E8A-4147-A177-3AD203B41FA5}">
                      <a16:colId xmlns:a16="http://schemas.microsoft.com/office/drawing/2014/main" val="2658806677"/>
                    </a:ext>
                  </a:extLst>
                </a:gridCol>
                <a:gridCol w="1486230">
                  <a:extLst>
                    <a:ext uri="{9D8B030D-6E8A-4147-A177-3AD203B41FA5}">
                      <a16:colId xmlns:a16="http://schemas.microsoft.com/office/drawing/2014/main" val="563793742"/>
                    </a:ext>
                  </a:extLst>
                </a:gridCol>
                <a:gridCol w="1486230">
                  <a:extLst>
                    <a:ext uri="{9D8B030D-6E8A-4147-A177-3AD203B41FA5}">
                      <a16:colId xmlns:a16="http://schemas.microsoft.com/office/drawing/2014/main" val="641013997"/>
                    </a:ext>
                  </a:extLst>
                </a:gridCol>
              </a:tblGrid>
              <a:tr h="291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 data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 ↓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ESC-50 ↑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964711"/>
                  </a:ext>
                </a:extLst>
              </a:tr>
              <a:tr h="3024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ATST 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18.8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564423"/>
                  </a:ext>
                </a:extLst>
              </a:tr>
              <a:tr h="3024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3.92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68.6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793909"/>
                  </a:ext>
                </a:extLst>
              </a:tr>
              <a:tr h="3024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7.70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82.2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79433"/>
                  </a:ext>
                </a:extLst>
              </a:tr>
              <a:tr h="3024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SPEAR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3.79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83.8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062568"/>
                  </a:ext>
                </a:extLst>
              </a:tr>
              <a:tr h="302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hours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23.27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80.9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288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D652FE-10BB-DC41-A455-CB695EFFA1DC}"/>
              </a:ext>
            </a:extLst>
          </p:cNvPr>
          <p:cNvSpPr txBox="1"/>
          <p:nvPr/>
        </p:nvSpPr>
        <p:spPr>
          <a:xfrm>
            <a:off x="6898458" y="1166736"/>
            <a:ext cx="3918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Comparison on baselines and proposed framework &gt;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886DC5-8966-9C99-4A2A-A5CA91DFA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1" y="1262564"/>
            <a:ext cx="4674775" cy="24194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DA009F-936C-38F5-AB13-4BABA4F7CE96}"/>
              </a:ext>
            </a:extLst>
          </p:cNvPr>
          <p:cNvSpPr txBox="1"/>
          <p:nvPr/>
        </p:nvSpPr>
        <p:spPr>
          <a:xfrm>
            <a:off x="1783914" y="3720820"/>
            <a:ext cx="1866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Proposed framework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6040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D7B2C-FDE5-14AB-E1F3-C516946B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6A902-AD89-54C8-2CEF-27825F104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3863340"/>
            <a:ext cx="11255829" cy="2546086"/>
          </a:xfrm>
        </p:spPr>
        <p:txBody>
          <a:bodyPr/>
          <a:lstStyle/>
          <a:p>
            <a:r>
              <a:rPr lang="en-US" altLang="ko-KR" dirty="0"/>
              <a:t>Analysis on Mixture of Experts</a:t>
            </a:r>
          </a:p>
          <a:p>
            <a:pPr lvl="1"/>
            <a:r>
              <a:rPr lang="en-US" altLang="ko-KR" dirty="0"/>
              <a:t>Reveal expert collapse, with both modalities strongly biased toward the identity expert (E5)</a:t>
            </a:r>
          </a:p>
          <a:p>
            <a:pPr lvl="1"/>
            <a:r>
              <a:rPr lang="en-US" altLang="ko-KR" dirty="0"/>
              <a:t>Show similar expert usage patterns across speech and audio, indicating limited modality-specific specialization</a:t>
            </a:r>
          </a:p>
          <a:p>
            <a:pPr lvl="1"/>
            <a:r>
              <a:rPr lang="en-US" altLang="ko-KR" dirty="0"/>
              <a:t>Improve both speech and audio performance after removing </a:t>
            </a:r>
            <a:r>
              <a:rPr lang="en-US" altLang="ko-KR" dirty="0" err="1"/>
              <a:t>MoE</a:t>
            </a:r>
            <a:endParaRPr lang="en-US" altLang="ko-KR" dirty="0"/>
          </a:p>
          <a:p>
            <a:pPr lvl="1"/>
            <a:r>
              <a:rPr lang="en-US" altLang="ko-KR" dirty="0"/>
              <a:t>Indicate limitations in the current routing and expert configuration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98598A-7709-397B-2F60-9219E30D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21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82D43E-8E8B-17C1-D001-0BB99F4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960"/>
              </p:ext>
            </p:extLst>
          </p:nvPr>
        </p:nvGraphicFramePr>
        <p:xfrm>
          <a:off x="6096000" y="2135012"/>
          <a:ext cx="5412376" cy="1149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304">
                  <a:extLst>
                    <a:ext uri="{9D8B030D-6E8A-4147-A177-3AD203B41FA5}">
                      <a16:colId xmlns:a16="http://schemas.microsoft.com/office/drawing/2014/main" val="3501385632"/>
                    </a:ext>
                  </a:extLst>
                </a:gridCol>
                <a:gridCol w="1073170">
                  <a:extLst>
                    <a:ext uri="{9D8B030D-6E8A-4147-A177-3AD203B41FA5}">
                      <a16:colId xmlns:a16="http://schemas.microsoft.com/office/drawing/2014/main" val="2354219331"/>
                    </a:ext>
                  </a:extLst>
                </a:gridCol>
                <a:gridCol w="1037303">
                  <a:extLst>
                    <a:ext uri="{9D8B030D-6E8A-4147-A177-3AD203B41FA5}">
                      <a16:colId xmlns:a16="http://schemas.microsoft.com/office/drawing/2014/main" val="4030360441"/>
                    </a:ext>
                  </a:extLst>
                </a:gridCol>
                <a:gridCol w="1153440">
                  <a:extLst>
                    <a:ext uri="{9D8B030D-6E8A-4147-A177-3AD203B41FA5}">
                      <a16:colId xmlns:a16="http://schemas.microsoft.com/office/drawing/2014/main" val="2065859083"/>
                    </a:ext>
                  </a:extLst>
                </a:gridCol>
                <a:gridCol w="1264159">
                  <a:extLst>
                    <a:ext uri="{9D8B030D-6E8A-4147-A177-3AD203B41FA5}">
                      <a16:colId xmlns:a16="http://schemas.microsoft.com/office/drawing/2014/main" val="1178336657"/>
                    </a:ext>
                  </a:extLst>
                </a:gridCol>
              </a:tblGrid>
              <a:tr h="2753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US" alt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</a:t>
                      </a:r>
                      <a:endParaRPr lang="en-US" alt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 ↓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ESC-50 ↑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020723"/>
                  </a:ext>
                </a:extLst>
              </a:tr>
              <a:tr h="4222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23.27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80.9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51610"/>
                  </a:ext>
                </a:extLst>
              </a:tr>
              <a:tr h="4222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17.03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6089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77D4C6-55EA-29FF-C60D-62558BA4FE46}"/>
              </a:ext>
            </a:extLst>
          </p:cNvPr>
          <p:cNvSpPr txBox="1"/>
          <p:nvPr/>
        </p:nvSpPr>
        <p:spPr>
          <a:xfrm>
            <a:off x="7157928" y="1748159"/>
            <a:ext cx="3561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Comparison with the standard </a:t>
            </a:r>
            <a:r>
              <a:rPr lang="en-US" altLang="ko-KR" sz="1200" dirty="0" err="1"/>
              <a:t>LoRA</a:t>
            </a:r>
            <a:r>
              <a:rPr lang="en-US" altLang="ko-KR" sz="1200" dirty="0"/>
              <a:t> baseline &gt;</a:t>
            </a:r>
            <a:endParaRPr lang="ko-KR" altLang="en-US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A07CC3C-5C68-62CF-16F7-3C34F3D83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7274"/>
              </p:ext>
            </p:extLst>
          </p:nvPr>
        </p:nvGraphicFramePr>
        <p:xfrm>
          <a:off x="920204" y="2135012"/>
          <a:ext cx="4404360" cy="1149234"/>
        </p:xfrm>
        <a:graphic>
          <a:graphicData uri="http://schemas.openxmlformats.org/drawingml/2006/table">
            <a:tbl>
              <a:tblPr/>
              <a:tblGrid>
                <a:gridCol w="734060">
                  <a:extLst>
                    <a:ext uri="{9D8B030D-6E8A-4147-A177-3AD203B41FA5}">
                      <a16:colId xmlns:a16="http://schemas.microsoft.com/office/drawing/2014/main" val="4064606612"/>
                    </a:ext>
                  </a:extLst>
                </a:gridCol>
                <a:gridCol w="734060">
                  <a:extLst>
                    <a:ext uri="{9D8B030D-6E8A-4147-A177-3AD203B41FA5}">
                      <a16:colId xmlns:a16="http://schemas.microsoft.com/office/drawing/2014/main" val="2905573403"/>
                    </a:ext>
                  </a:extLst>
                </a:gridCol>
                <a:gridCol w="734060">
                  <a:extLst>
                    <a:ext uri="{9D8B030D-6E8A-4147-A177-3AD203B41FA5}">
                      <a16:colId xmlns:a16="http://schemas.microsoft.com/office/drawing/2014/main" val="1219177486"/>
                    </a:ext>
                  </a:extLst>
                </a:gridCol>
                <a:gridCol w="734060">
                  <a:extLst>
                    <a:ext uri="{9D8B030D-6E8A-4147-A177-3AD203B41FA5}">
                      <a16:colId xmlns:a16="http://schemas.microsoft.com/office/drawing/2014/main" val="1699485056"/>
                    </a:ext>
                  </a:extLst>
                </a:gridCol>
                <a:gridCol w="734060">
                  <a:extLst>
                    <a:ext uri="{9D8B030D-6E8A-4147-A177-3AD203B41FA5}">
                      <a16:colId xmlns:a16="http://schemas.microsoft.com/office/drawing/2014/main" val="3927544342"/>
                    </a:ext>
                  </a:extLst>
                </a:gridCol>
                <a:gridCol w="734060">
                  <a:extLst>
                    <a:ext uri="{9D8B030D-6E8A-4147-A177-3AD203B41FA5}">
                      <a16:colId xmlns:a16="http://schemas.microsoft.com/office/drawing/2014/main" val="33989812"/>
                    </a:ext>
                  </a:extLst>
                </a:gridCol>
              </a:tblGrid>
              <a:tr h="383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</a:t>
                      </a:r>
                      <a:endParaRPr 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E1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E2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E3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E4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E5</a:t>
                      </a:r>
                      <a:endParaRPr lang="ko-KR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654525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</a:t>
                      </a:r>
                      <a:endParaRPr 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82.7%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159153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</a:t>
                      </a:r>
                      <a:endParaRPr 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0.2%</a:t>
                      </a:r>
                      <a:endParaRPr lang="ko-KR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88.4%</a:t>
                      </a:r>
                      <a:endParaRPr 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7041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12EE7CE-9396-15ED-2147-012DA68FA4E9}"/>
              </a:ext>
            </a:extLst>
          </p:cNvPr>
          <p:cNvSpPr txBox="1"/>
          <p:nvPr/>
        </p:nvSpPr>
        <p:spPr>
          <a:xfrm>
            <a:off x="1762877" y="1748159"/>
            <a:ext cx="2719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Overall expert usage distribution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07833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4B58-BAFE-0191-32C6-D680F02F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32593-45B7-5EC3-A845-B8D8FE61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#3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912EF-5BBF-110D-3150-3721B058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3870960"/>
            <a:ext cx="11255829" cy="2538466"/>
          </a:xfrm>
        </p:spPr>
        <p:txBody>
          <a:bodyPr/>
          <a:lstStyle/>
          <a:p>
            <a:r>
              <a:rPr lang="en-US" altLang="ko-KR" dirty="0"/>
              <a:t>Distillation Target Analysis</a:t>
            </a:r>
          </a:p>
          <a:p>
            <a:pPr lvl="1"/>
            <a:r>
              <a:rPr lang="en-US" altLang="ko-KR" b="1" dirty="0"/>
              <a:t>Discrete speech targets</a:t>
            </a:r>
            <a:r>
              <a:rPr lang="en-US" altLang="ko-KR" dirty="0"/>
              <a:t> improve ASR performance compared with continuous distillation</a:t>
            </a:r>
          </a:p>
          <a:p>
            <a:pPr lvl="1"/>
            <a:r>
              <a:rPr lang="en-US" altLang="ko-KR" dirty="0"/>
              <a:t>The choice of </a:t>
            </a:r>
            <a:r>
              <a:rPr lang="en-US" altLang="ko-KR" b="1" dirty="0"/>
              <a:t>target laye</a:t>
            </a:r>
            <a:r>
              <a:rPr lang="en-US" altLang="ko-KR" dirty="0"/>
              <a:t>r </a:t>
            </a:r>
            <a:r>
              <a:rPr lang="en-US" altLang="ko-KR" b="1" dirty="0"/>
              <a:t>affects the balance between speech and audio representation quality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EB7F0-0287-98C4-2BB1-4E4D8CB4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22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2D3D5B-519B-B216-624C-1B391984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67169"/>
              </p:ext>
            </p:extLst>
          </p:nvPr>
        </p:nvGraphicFramePr>
        <p:xfrm>
          <a:off x="1568678" y="1351612"/>
          <a:ext cx="9054644" cy="2151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702">
                  <a:extLst>
                    <a:ext uri="{9D8B030D-6E8A-4147-A177-3AD203B41FA5}">
                      <a16:colId xmlns:a16="http://schemas.microsoft.com/office/drawing/2014/main" val="3501385632"/>
                    </a:ext>
                  </a:extLst>
                </a:gridCol>
                <a:gridCol w="1074866">
                  <a:extLst>
                    <a:ext uri="{9D8B030D-6E8A-4147-A177-3AD203B41FA5}">
                      <a16:colId xmlns:a16="http://schemas.microsoft.com/office/drawing/2014/main" val="2354219331"/>
                    </a:ext>
                  </a:extLst>
                </a:gridCol>
                <a:gridCol w="1038943">
                  <a:extLst>
                    <a:ext uri="{9D8B030D-6E8A-4147-A177-3AD203B41FA5}">
                      <a16:colId xmlns:a16="http://schemas.microsoft.com/office/drawing/2014/main" val="4030360441"/>
                    </a:ext>
                  </a:extLst>
                </a:gridCol>
                <a:gridCol w="1211238">
                  <a:extLst>
                    <a:ext uri="{9D8B030D-6E8A-4147-A177-3AD203B41FA5}">
                      <a16:colId xmlns:a16="http://schemas.microsoft.com/office/drawing/2014/main" val="2897171202"/>
                    </a:ext>
                  </a:extLst>
                </a:gridCol>
                <a:gridCol w="1211238">
                  <a:extLst>
                    <a:ext uri="{9D8B030D-6E8A-4147-A177-3AD203B41FA5}">
                      <a16:colId xmlns:a16="http://schemas.microsoft.com/office/drawing/2014/main" val="1798223088"/>
                    </a:ext>
                  </a:extLst>
                </a:gridCol>
                <a:gridCol w="1211238">
                  <a:extLst>
                    <a:ext uri="{9D8B030D-6E8A-4147-A177-3AD203B41FA5}">
                      <a16:colId xmlns:a16="http://schemas.microsoft.com/office/drawing/2014/main" val="2114396832"/>
                    </a:ext>
                  </a:extLst>
                </a:gridCol>
                <a:gridCol w="1155262">
                  <a:extLst>
                    <a:ext uri="{9D8B030D-6E8A-4147-A177-3AD203B41FA5}">
                      <a16:colId xmlns:a16="http://schemas.microsoft.com/office/drawing/2014/main" val="2065859083"/>
                    </a:ext>
                  </a:extLst>
                </a:gridCol>
                <a:gridCol w="1266157">
                  <a:extLst>
                    <a:ext uri="{9D8B030D-6E8A-4147-A177-3AD203B41FA5}">
                      <a16:colId xmlns:a16="http://schemas.microsoft.com/office/drawing/2014/main" val="1178336657"/>
                    </a:ext>
                  </a:extLst>
                </a:gridCol>
              </a:tblGrid>
              <a:tr h="2753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US" alt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</a:t>
                      </a:r>
                      <a:endParaRPr lang="en-US" altLang="ko-KR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Target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WavLM</a:t>
                      </a: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 Clusters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 ↓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ESC-50 ↑ (%)</a:t>
                      </a:r>
                      <a:endParaRPr lang="ko-KR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020723"/>
                  </a:ext>
                </a:extLst>
              </a:tr>
              <a:tr h="42221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17.03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51610"/>
                  </a:ext>
                </a:extLst>
              </a:tr>
              <a:tr h="42221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TBU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608976"/>
                  </a:ext>
                </a:extLst>
              </a:tr>
              <a:tr h="42221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16.72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627101"/>
                  </a:ext>
                </a:extLst>
              </a:tr>
              <a:tr h="3663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16.96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304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437479-7CD2-558E-D3D1-3B5D71671EDE}"/>
              </a:ext>
            </a:extLst>
          </p:cNvPr>
          <p:cNvSpPr txBox="1"/>
          <p:nvPr/>
        </p:nvSpPr>
        <p:spPr>
          <a:xfrm>
            <a:off x="4519287" y="983412"/>
            <a:ext cx="3153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Comparison with the distillation strategy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6410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4E1C3-D71E-AE82-2B88-1F263A10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07A5BA-81AF-F822-6CE2-CC92D9903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</a:p>
          <a:p>
            <a:pPr lvl="1"/>
            <a:r>
              <a:rPr lang="en-US" altLang="ko-KR" dirty="0"/>
              <a:t>Build a unified framework based on a pretrained audio SSL backbone</a:t>
            </a:r>
          </a:p>
          <a:p>
            <a:pPr lvl="2"/>
            <a:r>
              <a:rPr lang="en-US" altLang="ko-KR" dirty="0"/>
              <a:t>Incorporate speech knowledge through </a:t>
            </a:r>
            <a:r>
              <a:rPr lang="en-US" altLang="ko-KR" b="1" dirty="0" err="1"/>
              <a:t>MoE</a:t>
            </a:r>
            <a:r>
              <a:rPr lang="en-US" altLang="ko-KR" b="1" dirty="0"/>
              <a:t>-</a:t>
            </a:r>
            <a:r>
              <a:rPr lang="en-US" altLang="ko-KR" b="1" dirty="0" err="1"/>
              <a:t>LoRA</a:t>
            </a:r>
            <a:r>
              <a:rPr lang="en-US" altLang="ko-KR" b="1" dirty="0"/>
              <a:t>-based adaptation</a:t>
            </a:r>
          </a:p>
          <a:p>
            <a:pPr lvl="1"/>
            <a:r>
              <a:rPr lang="en-US" altLang="ko-KR" dirty="0"/>
              <a:t>Identify limited expert specialization in the current </a:t>
            </a:r>
            <a:r>
              <a:rPr lang="en-US" altLang="ko-KR" dirty="0" err="1"/>
              <a:t>MoE</a:t>
            </a:r>
            <a:r>
              <a:rPr lang="en-US" altLang="ko-KR" dirty="0"/>
              <a:t> routing and expert configuration</a:t>
            </a:r>
          </a:p>
          <a:p>
            <a:pPr lvl="2"/>
            <a:r>
              <a:rPr lang="en-US" altLang="ko-KR" dirty="0"/>
              <a:t>Improve both </a:t>
            </a:r>
            <a:r>
              <a:rPr lang="en-US" altLang="ko-KR" b="1" dirty="0"/>
              <a:t>speech and audio performance by removing </a:t>
            </a:r>
            <a:r>
              <a:rPr lang="en-US" altLang="ko-KR" b="1" dirty="0" err="1"/>
              <a:t>MoE</a:t>
            </a:r>
            <a:endParaRPr lang="en-US" altLang="ko-KR" b="1" dirty="0"/>
          </a:p>
          <a:p>
            <a:pPr lvl="1"/>
            <a:r>
              <a:rPr lang="en-US" altLang="ko-KR" dirty="0"/>
              <a:t>Analyze the effects of speech learning objectives and distillation targets</a:t>
            </a:r>
          </a:p>
          <a:p>
            <a:pPr lvl="2"/>
            <a:r>
              <a:rPr lang="en-US" altLang="ko-KR" dirty="0"/>
              <a:t>Show the effectiveness of discrete targets for speech representation learning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Future Works</a:t>
            </a:r>
          </a:p>
          <a:p>
            <a:pPr lvl="1"/>
            <a:r>
              <a:rPr lang="en-US" altLang="ko-KR" dirty="0"/>
              <a:t>Investigate </a:t>
            </a:r>
            <a:r>
              <a:rPr lang="en-US" altLang="ko-KR" b="1" dirty="0"/>
              <a:t>the effect of different starting points </a:t>
            </a:r>
            <a:r>
              <a:rPr lang="en-US" altLang="ko-KR" dirty="0"/>
              <a:t>for unified SSL learning</a:t>
            </a:r>
          </a:p>
          <a:p>
            <a:pPr lvl="2"/>
            <a:r>
              <a:rPr lang="en-US" altLang="ko-KR" dirty="0"/>
              <a:t>Compare Audio SSL-based adaptation, Speech SSL-based adaptation, and scratch-based</a:t>
            </a:r>
          </a:p>
          <a:p>
            <a:pPr lvl="1"/>
            <a:r>
              <a:rPr lang="en-US" altLang="ko-KR" dirty="0"/>
              <a:t>Explore </a:t>
            </a:r>
            <a:r>
              <a:rPr lang="en-US" altLang="ko-KR" b="1" dirty="0"/>
              <a:t>learning objectives and distillation strategies</a:t>
            </a:r>
            <a:r>
              <a:rPr lang="en-US" altLang="ko-KR" dirty="0"/>
              <a:t> for incorporating speech knowledge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117EAD-FB28-7A9F-E5E8-49C651B5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893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FD377-23C9-1A33-5C0A-D56B075D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 - Datasets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B90CB-2C76-B1A5-291A-3BB231B5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24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AE809E-64EA-A462-28D6-77EE1E5AC596}"/>
              </a:ext>
            </a:extLst>
          </p:cNvPr>
          <p:cNvGraphicFramePr>
            <a:graphicFrameLocks noGrp="1"/>
          </p:cNvGraphicFramePr>
          <p:nvPr/>
        </p:nvGraphicFramePr>
        <p:xfrm>
          <a:off x="428171" y="1054730"/>
          <a:ext cx="5639492" cy="364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82">
                  <a:extLst>
                    <a:ext uri="{9D8B030D-6E8A-4147-A177-3AD203B41FA5}">
                      <a16:colId xmlns:a16="http://schemas.microsoft.com/office/drawing/2014/main" val="1585458260"/>
                    </a:ext>
                  </a:extLst>
                </a:gridCol>
                <a:gridCol w="1311344">
                  <a:extLst>
                    <a:ext uri="{9D8B030D-6E8A-4147-A177-3AD203B41FA5}">
                      <a16:colId xmlns:a16="http://schemas.microsoft.com/office/drawing/2014/main" val="964886131"/>
                    </a:ext>
                  </a:extLst>
                </a:gridCol>
                <a:gridCol w="1112620">
                  <a:extLst>
                    <a:ext uri="{9D8B030D-6E8A-4147-A177-3AD203B41FA5}">
                      <a16:colId xmlns:a16="http://schemas.microsoft.com/office/drawing/2014/main" val="4199603878"/>
                    </a:ext>
                  </a:extLst>
                </a:gridCol>
                <a:gridCol w="2003546">
                  <a:extLst>
                    <a:ext uri="{9D8B030D-6E8A-4147-A177-3AD203B41FA5}">
                      <a16:colId xmlns:a16="http://schemas.microsoft.com/office/drawing/2014/main" val="858622674"/>
                    </a:ext>
                  </a:extLst>
                </a:gridCol>
              </a:tblGrid>
              <a:tr h="299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Domain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Dataset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Duration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Average Duration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54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Speech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Voxpopuli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en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532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10.3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824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Libriheavy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60k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12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03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Gigaspeech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10k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4.35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01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Voxlingua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en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49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11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252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Audio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Audioset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5k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51829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Freesound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109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7.6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180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VGGSound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550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6562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Music4all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910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30 seconds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553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MTG-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times new romans"/>
                        </a:rPr>
                        <a:t>Jamendo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3.8k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25038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F56EB2-B42B-EA77-0C55-83FCE61D42AE}"/>
              </a:ext>
            </a:extLst>
          </p:cNvPr>
          <p:cNvGraphicFramePr>
            <a:graphicFrameLocks noGrp="1"/>
          </p:cNvGraphicFramePr>
          <p:nvPr/>
        </p:nvGraphicFramePr>
        <p:xfrm>
          <a:off x="6543213" y="2167250"/>
          <a:ext cx="5035703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68">
                  <a:extLst>
                    <a:ext uri="{9D8B030D-6E8A-4147-A177-3AD203B41FA5}">
                      <a16:colId xmlns:a16="http://schemas.microsoft.com/office/drawing/2014/main" val="2718891132"/>
                    </a:ext>
                  </a:extLst>
                </a:gridCol>
                <a:gridCol w="1390639">
                  <a:extLst>
                    <a:ext uri="{9D8B030D-6E8A-4147-A177-3AD203B41FA5}">
                      <a16:colId xmlns:a16="http://schemas.microsoft.com/office/drawing/2014/main" val="2728659731"/>
                    </a:ext>
                  </a:extLst>
                </a:gridCol>
                <a:gridCol w="1179898">
                  <a:extLst>
                    <a:ext uri="{9D8B030D-6E8A-4147-A177-3AD203B41FA5}">
                      <a16:colId xmlns:a16="http://schemas.microsoft.com/office/drawing/2014/main" val="1598811495"/>
                    </a:ext>
                  </a:extLst>
                </a:gridCol>
                <a:gridCol w="1179898">
                  <a:extLst>
                    <a:ext uri="{9D8B030D-6E8A-4147-A177-3AD203B41FA5}">
                      <a16:colId xmlns:a16="http://schemas.microsoft.com/office/drawing/2014/main" val="176969450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Total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Domain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Duration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Ratio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9942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s"/>
                        </a:rPr>
                        <a:t>Speech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70.6k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87.2%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4239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s"/>
                        </a:rPr>
                        <a:t>Audio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10.4k 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12.8%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384586"/>
                  </a:ext>
                </a:extLst>
              </a:tr>
              <a:tr h="2543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81k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s"/>
                        </a:rPr>
                        <a:t>hours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times new rom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359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0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727AE7-911A-3450-36FC-49CA9804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2AC03-914F-7A85-A213-76411F4F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3CA820A-9814-581F-D03C-40D03953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 descr="op_playbook.md&#10;&#10;AI 생성 콘텐츠는 정확하지 않을 수 있습니다.">
            <a:extLst>
              <a:ext uri="{FF2B5EF4-FFF2-40B4-BE49-F238E27FC236}">
                <a16:creationId xmlns:a16="http://schemas.microsoft.com/office/drawing/2014/main" id="{300B68C8-6CB8-7FBD-B6BC-822429E3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538" y="3227426"/>
            <a:ext cx="6454461" cy="3629531"/>
          </a:xfrm>
          <a:prstGeom prst="rect">
            <a:avLst/>
          </a:prstGeom>
        </p:spPr>
      </p:pic>
      <p:pic>
        <p:nvPicPr>
          <p:cNvPr id="15" name="그림 14" descr="The image appears to be a technical log or output from a software interface, displaying various statistics, commands, and system statuses related to a quantization process for an EnnQuantizer A8W8, including metrics such as tensor operations and GPU performance.&#10;&#10;AI 생성 콘텐츠는 정확하지 않을 수 있습니다.">
            <a:extLst>
              <a:ext uri="{FF2B5EF4-FFF2-40B4-BE49-F238E27FC236}">
                <a16:creationId xmlns:a16="http://schemas.microsoft.com/office/drawing/2014/main" id="{A9DFEC69-D07D-C37C-D08C-91FCC9F0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39" y="1504744"/>
            <a:ext cx="3863399" cy="271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92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12013-673D-8F44-47D9-EAC91ACF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B6CA2-D870-AA0C-B99A-66F5F47A6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63229-7466-9A57-58D1-B51A7E70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6" name="그림 5" descr="￬ﾞﾔ￫ﾩﾰ SUB 7 + rsub 1&#10;&#10;AI 생성 콘텐츠는 정확하지 않을 수 있습니다.">
            <a:extLst>
              <a:ext uri="{FF2B5EF4-FFF2-40B4-BE49-F238E27FC236}">
                <a16:creationId xmlns:a16="http://schemas.microsoft.com/office/drawing/2014/main" id="{40E9306D-A3BB-0773-88C1-BC4F3FF8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1" y="905766"/>
            <a:ext cx="10218520" cy="57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78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B13C9-2A1C-2809-BD20-4E75749A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A3462F-57F9-09B3-F7FA-67E8B50F1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E9944-4537-D480-3932-FA7DE59A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6" name="그림 5" descr="The image contains a text document detailing the results of an analysis, including updates to existing documents and skills, with plans to be executed. It mentions the rejection of certain judgments, the confirmation of a class, and the reversal of a decision, along with a note about two different inputs being examined.&#10;&#10;AI 생성 콘텐츠는 정확하지 않을 수 있습니다.">
            <a:extLst>
              <a:ext uri="{FF2B5EF4-FFF2-40B4-BE49-F238E27FC236}">
                <a16:creationId xmlns:a16="http://schemas.microsoft.com/office/drawing/2014/main" id="{48B7258D-10E7-1884-92AC-B4678057F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804" y="0"/>
            <a:ext cx="5518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76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A749E-B234-2484-DD63-5DF03A61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99189-7E0F-EF5E-0CC1-1E9B9B89D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6B709-E4FE-4615-2A1C-5F93CDFC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6" name="그림 5" descr="The document is a changelog for various configuration files in a software project, detailing updates to playbooks, registry, stage tracking, and execution plans, including new rules for execution and updated documentation.&#10;&#10;AI 생성 콘텐츠는 정확하지 않을 수 있습니다.">
            <a:extLst>
              <a:ext uri="{FF2B5EF4-FFF2-40B4-BE49-F238E27FC236}">
                <a16:creationId xmlns:a16="http://schemas.microsoft.com/office/drawing/2014/main" id="{95939E1F-1E96-87BE-3465-27780333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2" y="399627"/>
            <a:ext cx="7849695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86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F0122-9BB2-6B72-4D8E-4BDB77D5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75EB79-F91B-C5A8-DD15-548E00D4C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44001-EEB3-E57D-AA03-9DD1313C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6" name="그림 5" descr="The image displays a user interface with a command history log, file browsing, and various file reading tasks, suggesting an ongoing software development or code review activity.&#10;&#10;AI 생성 콘텐츠는 정확하지 않을 수 있습니다.">
            <a:extLst>
              <a:ext uri="{FF2B5EF4-FFF2-40B4-BE49-F238E27FC236}">
                <a16:creationId xmlns:a16="http://schemas.microsoft.com/office/drawing/2014/main" id="{04FBF8DB-7C86-E403-6CE8-4C60F7B2B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64" y="2014066"/>
            <a:ext cx="5863794" cy="40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79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F642E-A075-EFB9-170E-1D08BDF2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6A2045-964E-EF26-FA9A-57D4AD2D1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2508E-F377-4232-DD31-6959A2C1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30</a:t>
            </a:fld>
            <a:endParaRPr lang="ko-KR" altLang="en-US"/>
          </a:p>
        </p:txBody>
      </p:sp>
      <p:pic>
        <p:nvPicPr>
          <p:cNvPr id="6" name="그림 5" descr="scale-shift,&#10;&#10;AI 생성 콘텐츠는 정확하지 않을 수 있습니다.">
            <a:extLst>
              <a:ext uri="{FF2B5EF4-FFF2-40B4-BE49-F238E27FC236}">
                <a16:creationId xmlns:a16="http://schemas.microsoft.com/office/drawing/2014/main" id="{071255F2-AD7D-E287-F707-4B833C25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324" y="530078"/>
            <a:ext cx="4591579" cy="5696857"/>
          </a:xfrm>
          <a:prstGeom prst="rect">
            <a:avLst/>
          </a:prstGeom>
        </p:spPr>
      </p:pic>
      <p:pic>
        <p:nvPicPr>
          <p:cNvPr id="8" name="그림 7" descr="￪ﾸﾀ ￭ﾅﾍ￬ﾊﾤ￭ﾊﾸ￬ﾗﾐ￬ﾄﾜ ￪ﾰﾁ ￭ﾔﾄ￫ﾡﾜ￬ﾠﾝ￭ﾊﾸ￬ﾗﾐ￬ﾄﾜ ￭ﾊﾹ￬ﾠﾕ ￪ﾵﾬ￬ﾚﾩ￬ﾖﾴ￫ﾥﾼ ￫ﾳﾀ￪ﾲﾽ￭ﾕﾘ￪ﾳﾠ, ￪ﾲﾰ￪ﾳﾼ￫ﾡﾜ ￭ﾔﾄ￫ﾡﾜ￬ﾠﾝ￭ﾊﾸ ￪ﾰﾄ￬ﾗﾐ ￪ﾰﾙ￬ﾝﾀ ￫ﾳﾀ￪ﾲﾽ ￬ﾂﾬ￭ﾕﾭ￬ﾝﾴ ￭ﾙﾕ￬ﾂﾰ￫ﾐﾘ￫ﾊﾔ cherry-pick ￭ﾊﾹ￬ﾄﾱ￬ﾝﾄ ￫ﾳﾴ￬ﾗﾬ￬ﾤﾀ￫ﾋﾤ.&#10;&#10;AI 생성 콘텐츠는 정확하지 않을 수 있습니다.">
            <a:extLst>
              <a:ext uri="{FF2B5EF4-FFF2-40B4-BE49-F238E27FC236}">
                <a16:creationId xmlns:a16="http://schemas.microsoft.com/office/drawing/2014/main" id="{37B57291-3B46-B3D5-C598-BD2332417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19" y="1861416"/>
            <a:ext cx="4251982" cy="212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31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D6E71-CE10-0A2B-3435-D2EE603B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E1363-E749-BCF9-5039-4C1FBDC5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F2911-5049-1BCF-CD37-6B1A9B81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6" name="그림 5" descr="The image appears to be a text-based representation of a version control log or commit history, detailing changes and updates to a software project.&#10;&#10;AI 생성 콘텐츠는 정확하지 않을 수 있습니다.">
            <a:extLst>
              <a:ext uri="{FF2B5EF4-FFF2-40B4-BE49-F238E27FC236}">
                <a16:creationId xmlns:a16="http://schemas.microsoft.com/office/drawing/2014/main" id="{1C6EAB6A-C709-9F1B-38AD-AB2F2609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1" y="1161143"/>
            <a:ext cx="3783756" cy="51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57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79570-035F-9DAB-AAC8-1B0427FC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DroneDINO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B1824-7A36-6E1E-2286-059A1C7D9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4267200"/>
            <a:ext cx="11255829" cy="2142225"/>
          </a:xfrm>
        </p:spPr>
        <p:txBody>
          <a:bodyPr/>
          <a:lstStyle/>
          <a:p>
            <a:r>
              <a:rPr lang="en-US" altLang="ko-KR" dirty="0"/>
              <a:t>Description</a:t>
            </a:r>
          </a:p>
          <a:p>
            <a:pPr lvl="1"/>
            <a:r>
              <a:rPr lang="en-US" altLang="ko-KR" dirty="0"/>
              <a:t>Handle multiple drone detection tasks with different input modalities using a unified model</a:t>
            </a:r>
          </a:p>
          <a:p>
            <a:pPr lvl="1"/>
            <a:r>
              <a:rPr lang="en-US" altLang="ko-KR" dirty="0"/>
              <a:t>Divide experts into three functional groups</a:t>
            </a:r>
          </a:p>
          <a:p>
            <a:pPr lvl="2"/>
            <a:r>
              <a:rPr lang="en-US" altLang="ko-KR" dirty="0"/>
              <a:t>Learn shared representations through the </a:t>
            </a:r>
            <a:r>
              <a:rPr lang="en-US" altLang="ko-KR" b="1" dirty="0"/>
              <a:t>shared expert</a:t>
            </a:r>
          </a:p>
          <a:p>
            <a:pPr lvl="2"/>
            <a:r>
              <a:rPr lang="en-US" altLang="ko-KR" dirty="0"/>
              <a:t>Capture task-specific representations using </a:t>
            </a:r>
            <a:r>
              <a:rPr lang="en-US" altLang="ko-KR" b="1" dirty="0"/>
              <a:t>task-specific experts</a:t>
            </a:r>
          </a:p>
          <a:p>
            <a:pPr lvl="2"/>
            <a:r>
              <a:rPr lang="en-US" altLang="ko-KR" dirty="0"/>
              <a:t>Select </a:t>
            </a:r>
            <a:r>
              <a:rPr lang="en-US" altLang="ko-KR" b="1" dirty="0"/>
              <a:t>top-k Dynamic Experts</a:t>
            </a:r>
            <a:r>
              <a:rPr lang="en-US" altLang="ko-KR" dirty="0"/>
              <a:t> via routing to model intra-task variations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8802D8-95C9-EB67-22B6-469E8EDB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381D-6B6D-4253-A1CC-156B8F0F91BA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4947B-76B7-401E-0341-537908297ED0}"/>
              </a:ext>
            </a:extLst>
          </p:cNvPr>
          <p:cNvSpPr txBox="1"/>
          <p:nvPr/>
        </p:nvSpPr>
        <p:spPr>
          <a:xfrm>
            <a:off x="4547418" y="19800"/>
            <a:ext cx="7543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Dong 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et al., "</a:t>
            </a:r>
            <a:r>
              <a:rPr lang="en-US" altLang="ko-K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DroneDINO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Towards Heterogeneous Routed Mixture of Experts for Drone-based Unified Object Detection, ICML 2026.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EE32184-CE52-6582-F62C-040CE3BC7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44" y="1047135"/>
            <a:ext cx="8870913" cy="27738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3F62E6-04F0-33B6-6ED0-DFCFACBDF168}"/>
              </a:ext>
            </a:extLst>
          </p:cNvPr>
          <p:cNvSpPr txBox="1"/>
          <p:nvPr/>
        </p:nvSpPr>
        <p:spPr>
          <a:xfrm>
            <a:off x="5175491" y="3884734"/>
            <a:ext cx="2234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&lt; Framework of </a:t>
            </a:r>
            <a:r>
              <a:rPr lang="en-US" altLang="ko-KR" sz="1200" dirty="0" err="1"/>
              <a:t>DroneDINO</a:t>
            </a:r>
            <a:r>
              <a:rPr lang="en-US" altLang="ko-KR" sz="1200" dirty="0"/>
              <a:t>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9327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PTTS_ppt" id="{31C262D6-3680-DA4B-9396-640982164E51}" vid="{46B32193-9E52-904E-956D-A85D5A716E8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91524A-87B4-4579-99E1-86BBD99D3643}">
  <we:reference id="4b785c87-866c-4bad-85d8-5d1ae467ac9a" version="3.12.0.0" store="EXCatalog" storeType="EXCatalog"/>
  <we:alternateReferences>
    <we:reference id="WA104381909" version="3.12.0.0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테마</Template>
  <TotalTime>92702</TotalTime>
  <Words>1541</Words>
  <Application>Microsoft Office PowerPoint</Application>
  <PresentationFormat>와이드스크린</PresentationFormat>
  <Paragraphs>418</Paragraphs>
  <Slides>32</Slides>
  <Notes>14</Notes>
  <HiddenSlides>3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times new romans</vt:lpstr>
      <vt:lpstr>맑은 고딕</vt:lpstr>
      <vt:lpstr>Arial</vt:lpstr>
      <vt:lpstr>Cambria Math</vt:lpstr>
      <vt:lpstr>Times New Roman</vt:lpstr>
      <vt:lpstr>Wingdings</vt:lpstr>
      <vt:lpstr>Office 테마</vt:lpstr>
      <vt:lpstr>Unified Speech and Audio Representation Learning</vt:lpstr>
      <vt:lpstr>Overview</vt:lpstr>
      <vt:lpstr>Contents</vt:lpstr>
      <vt:lpstr>Contents</vt:lpstr>
      <vt:lpstr>PowerPoint 프레젠테이션</vt:lpstr>
      <vt:lpstr>WavLM</vt:lpstr>
      <vt:lpstr>WavLM</vt:lpstr>
      <vt:lpstr>ATST</vt:lpstr>
      <vt:lpstr>PowerPoint 프레젠테이션</vt:lpstr>
      <vt:lpstr>Related Works</vt:lpstr>
      <vt:lpstr>Related Works</vt:lpstr>
      <vt:lpstr>Proposed Method</vt:lpstr>
      <vt:lpstr>Proposed Method</vt:lpstr>
      <vt:lpstr>Proposed Method</vt:lpstr>
      <vt:lpstr>PowerPoint 프레젠테이션</vt:lpstr>
      <vt:lpstr>Experiments</vt:lpstr>
      <vt:lpstr>Experiments</vt:lpstr>
      <vt:lpstr>Experimental Setup</vt:lpstr>
      <vt:lpstr>Experimental Setup</vt:lpstr>
      <vt:lpstr>Experiment #1</vt:lpstr>
      <vt:lpstr>Experiment #2</vt:lpstr>
      <vt:lpstr>Experiment #3</vt:lpstr>
      <vt:lpstr>Conclusion</vt:lpstr>
      <vt:lpstr>Future Works - Datasets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DroneDINO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Subtitle</dc:title>
  <dc:creator>오상신</dc:creator>
  <cp:lastModifiedBy>찬우 이</cp:lastModifiedBy>
  <cp:revision>5763</cp:revision>
  <cp:lastPrinted>2026-07-23T07:34:40Z</cp:lastPrinted>
  <dcterms:created xsi:type="dcterms:W3CDTF">2019-07-17T01:12:57Z</dcterms:created>
  <dcterms:modified xsi:type="dcterms:W3CDTF">2026-08-29T04:12:46Z</dcterms:modified>
</cp:coreProperties>
</file>